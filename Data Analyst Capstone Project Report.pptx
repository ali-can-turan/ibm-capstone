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0" r:id="rId9"/>
    <p:sldId id="278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9" r:id="rId21"/>
    <p:sldId id="282" r:id="rId22"/>
    <p:sldId id="283" r:id="rId23"/>
    <p:sldId id="270" r:id="rId24"/>
    <p:sldId id="271" r:id="rId25"/>
    <p:sldId id="272" r:id="rId26"/>
    <p:sldId id="273" r:id="rId27"/>
  </p:sldIdLst>
  <p:sldSz cx="12192000" cy="6858000"/>
  <p:notesSz cx="6858000" cy="1857375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428"/>
    <a:srgbClr val="FFA500"/>
    <a:srgbClr val="E97B49"/>
    <a:srgbClr val="E76F39"/>
    <a:srgbClr val="0072C3"/>
    <a:srgbClr val="007D79"/>
    <a:srgbClr val="D02670"/>
    <a:srgbClr val="231F20"/>
    <a:srgbClr val="33B1F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3" autoAdjust="0"/>
    <p:restoredTop sz="94641" autoAdjust="0"/>
  </p:normalViewPr>
  <p:slideViewPr>
    <p:cSldViewPr>
      <p:cViewPr varScale="1">
        <p:scale>
          <a:sx n="72" d="100"/>
          <a:sy n="72" d="100"/>
        </p:scale>
        <p:origin x="43" y="91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BF9CC9-5DCB-41CB-A975-80A8F1CEFB9F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C6EF5A11-652C-4311-9ADC-9ACA6D9C90D8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Executive Summary</a:t>
          </a:r>
        </a:p>
      </dgm:t>
    </dgm:pt>
    <dgm:pt modelId="{958C8D4D-5D8B-406E-BE9E-0B76E93E3682}" type="parTrans" cxnId="{608DE6E2-D085-4332-BA81-5AF55A9BC01C}">
      <dgm:prSet/>
      <dgm:spPr/>
      <dgm:t>
        <a:bodyPr/>
        <a:lstStyle/>
        <a:p>
          <a:endParaRPr lang="en-US"/>
        </a:p>
      </dgm:t>
    </dgm:pt>
    <dgm:pt modelId="{79C7C858-E793-4B0B-B219-C9F97EAB66E6}" type="sibTrans" cxnId="{608DE6E2-D085-4332-BA81-5AF55A9BC01C}">
      <dgm:prSet/>
      <dgm:spPr/>
      <dgm:t>
        <a:bodyPr/>
        <a:lstStyle/>
        <a:p>
          <a:endParaRPr lang="en-US"/>
        </a:p>
      </dgm:t>
    </dgm:pt>
    <dgm:pt modelId="{0D6A71EA-5A7A-492E-B5A6-751FB827D75B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Introduction</a:t>
          </a:r>
        </a:p>
      </dgm:t>
    </dgm:pt>
    <dgm:pt modelId="{292F1609-9D16-46C1-9B0E-434DC9CF4BD1}" type="parTrans" cxnId="{C3C68C37-939D-41CB-8CC1-29ABC402DEA6}">
      <dgm:prSet/>
      <dgm:spPr/>
      <dgm:t>
        <a:bodyPr/>
        <a:lstStyle/>
        <a:p>
          <a:endParaRPr lang="en-US"/>
        </a:p>
      </dgm:t>
    </dgm:pt>
    <dgm:pt modelId="{781AB272-12C6-4E7C-B0BE-2B79E062DACE}" type="sibTrans" cxnId="{C3C68C37-939D-41CB-8CC1-29ABC402DEA6}">
      <dgm:prSet/>
      <dgm:spPr/>
      <dgm:t>
        <a:bodyPr/>
        <a:lstStyle/>
        <a:p>
          <a:endParaRPr lang="en-US"/>
        </a:p>
      </dgm:t>
    </dgm:pt>
    <dgm:pt modelId="{8B72A94E-BEA4-41F6-A824-271941E3513E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Methodology</a:t>
          </a:r>
        </a:p>
      </dgm:t>
    </dgm:pt>
    <dgm:pt modelId="{AB3D2465-F2C3-4E33-A7B5-773636A877D7}" type="parTrans" cxnId="{EBB47F0C-0337-472A-AF08-BE0084CE532F}">
      <dgm:prSet/>
      <dgm:spPr/>
      <dgm:t>
        <a:bodyPr/>
        <a:lstStyle/>
        <a:p>
          <a:endParaRPr lang="en-US"/>
        </a:p>
      </dgm:t>
    </dgm:pt>
    <dgm:pt modelId="{90584842-72B7-4E6D-BDB3-A7CE1E82F5E0}" type="sibTrans" cxnId="{EBB47F0C-0337-472A-AF08-BE0084CE532F}">
      <dgm:prSet/>
      <dgm:spPr/>
      <dgm:t>
        <a:bodyPr/>
        <a:lstStyle/>
        <a:p>
          <a:endParaRPr lang="en-US"/>
        </a:p>
      </dgm:t>
    </dgm:pt>
    <dgm:pt modelId="{E7BF61A4-86CD-4ECF-96C7-63DE881C474D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Results</a:t>
          </a:r>
        </a:p>
      </dgm:t>
    </dgm:pt>
    <dgm:pt modelId="{EEFCB87C-0E9D-4182-9BD2-BF15A5CD847B}" type="parTrans" cxnId="{63EF8876-88CC-46DF-8372-55AF181934C8}">
      <dgm:prSet/>
      <dgm:spPr/>
      <dgm:t>
        <a:bodyPr/>
        <a:lstStyle/>
        <a:p>
          <a:endParaRPr lang="en-US"/>
        </a:p>
      </dgm:t>
    </dgm:pt>
    <dgm:pt modelId="{6B7860D6-D02C-4D84-B441-FE8A0DFF3373}" type="sibTrans" cxnId="{63EF8876-88CC-46DF-8372-55AF181934C8}">
      <dgm:prSet/>
      <dgm:spPr/>
      <dgm:t>
        <a:bodyPr/>
        <a:lstStyle/>
        <a:p>
          <a:endParaRPr lang="en-US"/>
        </a:p>
      </dgm:t>
    </dgm:pt>
    <dgm:pt modelId="{810CC872-7AA4-49B1-88C6-5BA5809919D6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Discussion</a:t>
          </a:r>
        </a:p>
      </dgm:t>
    </dgm:pt>
    <dgm:pt modelId="{2DBCEB75-7EA8-45D6-A4E4-F5127160B9A7}" type="parTrans" cxnId="{3D9B0540-718E-426B-80E8-67C962BE8E5C}">
      <dgm:prSet/>
      <dgm:spPr/>
      <dgm:t>
        <a:bodyPr/>
        <a:lstStyle/>
        <a:p>
          <a:endParaRPr lang="en-US"/>
        </a:p>
      </dgm:t>
    </dgm:pt>
    <dgm:pt modelId="{8C8477BE-AEFF-45FD-9D76-D40F44A5E5AF}" type="sibTrans" cxnId="{3D9B0540-718E-426B-80E8-67C962BE8E5C}">
      <dgm:prSet/>
      <dgm:spPr/>
      <dgm:t>
        <a:bodyPr/>
        <a:lstStyle/>
        <a:p>
          <a:endParaRPr lang="en-US"/>
        </a:p>
      </dgm:t>
    </dgm:pt>
    <dgm:pt modelId="{6D7FFA29-B562-436E-B2CD-C9630AA186F8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Conclusion</a:t>
          </a:r>
        </a:p>
      </dgm:t>
    </dgm:pt>
    <dgm:pt modelId="{B47B41F6-8BA2-4761-BE32-9937694A2E0F}" type="parTrans" cxnId="{7DB87FFD-596B-4AA4-B729-42F2B8612FCA}">
      <dgm:prSet/>
      <dgm:spPr/>
      <dgm:t>
        <a:bodyPr/>
        <a:lstStyle/>
        <a:p>
          <a:endParaRPr lang="en-US"/>
        </a:p>
      </dgm:t>
    </dgm:pt>
    <dgm:pt modelId="{C841BFB2-5670-48C8-A50A-06AA40BE81A2}" type="sibTrans" cxnId="{7DB87FFD-596B-4AA4-B729-42F2B8612FCA}">
      <dgm:prSet/>
      <dgm:spPr/>
      <dgm:t>
        <a:bodyPr/>
        <a:lstStyle/>
        <a:p>
          <a:endParaRPr lang="en-US"/>
        </a:p>
      </dgm:t>
    </dgm:pt>
    <dgm:pt modelId="{972F58D3-AFD9-4750-9855-D728D878665B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Appendix</a:t>
          </a:r>
        </a:p>
      </dgm:t>
    </dgm:pt>
    <dgm:pt modelId="{D58AC6F0-2C13-4B70-9328-CD9C18613962}" type="parTrans" cxnId="{AB266EC6-C2A2-41E9-AB09-A43D86461131}">
      <dgm:prSet/>
      <dgm:spPr/>
      <dgm:t>
        <a:bodyPr/>
        <a:lstStyle/>
        <a:p>
          <a:endParaRPr lang="en-US"/>
        </a:p>
      </dgm:t>
    </dgm:pt>
    <dgm:pt modelId="{33C627F0-B896-4702-8FF6-779112BB5728}" type="sibTrans" cxnId="{AB266EC6-C2A2-41E9-AB09-A43D86461131}">
      <dgm:prSet/>
      <dgm:spPr/>
      <dgm:t>
        <a:bodyPr/>
        <a:lstStyle/>
        <a:p>
          <a:endParaRPr lang="en-US"/>
        </a:p>
      </dgm:t>
    </dgm:pt>
    <dgm:pt modelId="{124D355B-FC69-44C7-8BC8-4AC84C3BC11F}" type="pres">
      <dgm:prSet presAssocID="{32BF9CC9-5DCB-41CB-A975-80A8F1CEFB9F}" presName="Name0" presStyleCnt="0">
        <dgm:presLayoutVars>
          <dgm:chMax val="7"/>
          <dgm:chPref val="7"/>
          <dgm:dir/>
        </dgm:presLayoutVars>
      </dgm:prSet>
      <dgm:spPr/>
    </dgm:pt>
    <dgm:pt modelId="{ECE6F3D6-1247-456D-991D-A467324A8E95}" type="pres">
      <dgm:prSet presAssocID="{32BF9CC9-5DCB-41CB-A975-80A8F1CEFB9F}" presName="Name1" presStyleCnt="0"/>
      <dgm:spPr/>
    </dgm:pt>
    <dgm:pt modelId="{6A98FA38-74CF-458A-B57F-42B83970C305}" type="pres">
      <dgm:prSet presAssocID="{32BF9CC9-5DCB-41CB-A975-80A8F1CEFB9F}" presName="cycle" presStyleCnt="0"/>
      <dgm:spPr/>
    </dgm:pt>
    <dgm:pt modelId="{2351B8EE-974A-42F9-B434-7596C6BE1342}" type="pres">
      <dgm:prSet presAssocID="{32BF9CC9-5DCB-41CB-A975-80A8F1CEFB9F}" presName="srcNode" presStyleLbl="node1" presStyleIdx="0" presStyleCnt="7"/>
      <dgm:spPr/>
    </dgm:pt>
    <dgm:pt modelId="{1664AD0C-4682-402E-971B-D643647A142D}" type="pres">
      <dgm:prSet presAssocID="{32BF9CC9-5DCB-41CB-A975-80A8F1CEFB9F}" presName="conn" presStyleLbl="parChTrans1D2" presStyleIdx="0" presStyleCnt="1"/>
      <dgm:spPr/>
    </dgm:pt>
    <dgm:pt modelId="{E8B39A32-4182-4A07-9852-357358141247}" type="pres">
      <dgm:prSet presAssocID="{32BF9CC9-5DCB-41CB-A975-80A8F1CEFB9F}" presName="extraNode" presStyleLbl="node1" presStyleIdx="0" presStyleCnt="7"/>
      <dgm:spPr/>
    </dgm:pt>
    <dgm:pt modelId="{A73FED8D-9D16-4646-BD53-94F09F1D6F4C}" type="pres">
      <dgm:prSet presAssocID="{32BF9CC9-5DCB-41CB-A975-80A8F1CEFB9F}" presName="dstNode" presStyleLbl="node1" presStyleIdx="0" presStyleCnt="7"/>
      <dgm:spPr/>
    </dgm:pt>
    <dgm:pt modelId="{9F483D7E-E38E-450F-A92E-284BD11C46EF}" type="pres">
      <dgm:prSet presAssocID="{C6EF5A11-652C-4311-9ADC-9ACA6D9C90D8}" presName="text_1" presStyleLbl="node1" presStyleIdx="0" presStyleCnt="7">
        <dgm:presLayoutVars>
          <dgm:bulletEnabled val="1"/>
        </dgm:presLayoutVars>
      </dgm:prSet>
      <dgm:spPr/>
    </dgm:pt>
    <dgm:pt modelId="{486F900A-F39A-4133-8ABA-E1672219F6C2}" type="pres">
      <dgm:prSet presAssocID="{C6EF5A11-652C-4311-9ADC-9ACA6D9C90D8}" presName="accent_1" presStyleCnt="0"/>
      <dgm:spPr/>
    </dgm:pt>
    <dgm:pt modelId="{6657D6DF-8336-48AF-B179-74029425EDEE}" type="pres">
      <dgm:prSet presAssocID="{C6EF5A11-652C-4311-9ADC-9ACA6D9C90D8}" presName="accentRepeatNode" presStyleLbl="solidFgAcc1" presStyleIdx="0" presStyleCnt="7"/>
      <dgm:spPr/>
    </dgm:pt>
    <dgm:pt modelId="{6790A25B-79AB-4B66-9A6B-90E1F21A4D66}" type="pres">
      <dgm:prSet presAssocID="{0D6A71EA-5A7A-492E-B5A6-751FB827D75B}" presName="text_2" presStyleLbl="node1" presStyleIdx="1" presStyleCnt="7">
        <dgm:presLayoutVars>
          <dgm:bulletEnabled val="1"/>
        </dgm:presLayoutVars>
      </dgm:prSet>
      <dgm:spPr/>
    </dgm:pt>
    <dgm:pt modelId="{68B3AF03-5575-4065-AAA8-146C4BD8B563}" type="pres">
      <dgm:prSet presAssocID="{0D6A71EA-5A7A-492E-B5A6-751FB827D75B}" presName="accent_2" presStyleCnt="0"/>
      <dgm:spPr/>
    </dgm:pt>
    <dgm:pt modelId="{5CF63DEE-1977-4087-BB4C-BC46540AC0B8}" type="pres">
      <dgm:prSet presAssocID="{0D6A71EA-5A7A-492E-B5A6-751FB827D75B}" presName="accentRepeatNode" presStyleLbl="solidFgAcc1" presStyleIdx="1" presStyleCnt="7"/>
      <dgm:spPr/>
    </dgm:pt>
    <dgm:pt modelId="{21804948-1620-4781-BFC6-007EC8E4580F}" type="pres">
      <dgm:prSet presAssocID="{8B72A94E-BEA4-41F6-A824-271941E3513E}" presName="text_3" presStyleLbl="node1" presStyleIdx="2" presStyleCnt="7">
        <dgm:presLayoutVars>
          <dgm:bulletEnabled val="1"/>
        </dgm:presLayoutVars>
      </dgm:prSet>
      <dgm:spPr/>
    </dgm:pt>
    <dgm:pt modelId="{D9EE84D4-34D1-487F-989C-E12BF59CC129}" type="pres">
      <dgm:prSet presAssocID="{8B72A94E-BEA4-41F6-A824-271941E3513E}" presName="accent_3" presStyleCnt="0"/>
      <dgm:spPr/>
    </dgm:pt>
    <dgm:pt modelId="{E4B1B72C-D1F9-4F27-87F9-B7FE7D3CAA30}" type="pres">
      <dgm:prSet presAssocID="{8B72A94E-BEA4-41F6-A824-271941E3513E}" presName="accentRepeatNode" presStyleLbl="solidFgAcc1" presStyleIdx="2" presStyleCnt="7"/>
      <dgm:spPr/>
    </dgm:pt>
    <dgm:pt modelId="{88FA3052-A200-45EE-AC5B-385352DE359B}" type="pres">
      <dgm:prSet presAssocID="{E7BF61A4-86CD-4ECF-96C7-63DE881C474D}" presName="text_4" presStyleLbl="node1" presStyleIdx="3" presStyleCnt="7">
        <dgm:presLayoutVars>
          <dgm:bulletEnabled val="1"/>
        </dgm:presLayoutVars>
      </dgm:prSet>
      <dgm:spPr/>
    </dgm:pt>
    <dgm:pt modelId="{B9EA40AC-9F77-4350-842E-31AEC79A07DD}" type="pres">
      <dgm:prSet presAssocID="{E7BF61A4-86CD-4ECF-96C7-63DE881C474D}" presName="accent_4" presStyleCnt="0"/>
      <dgm:spPr/>
    </dgm:pt>
    <dgm:pt modelId="{A626BB4E-6F67-4E73-9019-9BEEC4A3D0BC}" type="pres">
      <dgm:prSet presAssocID="{E7BF61A4-86CD-4ECF-96C7-63DE881C474D}" presName="accentRepeatNode" presStyleLbl="solidFgAcc1" presStyleIdx="3" presStyleCnt="7"/>
      <dgm:spPr/>
    </dgm:pt>
    <dgm:pt modelId="{370939C2-EAE2-4110-8F22-D1FC10EC9395}" type="pres">
      <dgm:prSet presAssocID="{810CC872-7AA4-49B1-88C6-5BA5809919D6}" presName="text_5" presStyleLbl="node1" presStyleIdx="4" presStyleCnt="7">
        <dgm:presLayoutVars>
          <dgm:bulletEnabled val="1"/>
        </dgm:presLayoutVars>
      </dgm:prSet>
      <dgm:spPr/>
    </dgm:pt>
    <dgm:pt modelId="{A47A1CAB-388F-4AEA-B225-EF4654380091}" type="pres">
      <dgm:prSet presAssocID="{810CC872-7AA4-49B1-88C6-5BA5809919D6}" presName="accent_5" presStyleCnt="0"/>
      <dgm:spPr/>
    </dgm:pt>
    <dgm:pt modelId="{1E97B953-905F-4D34-9900-D03F2B782926}" type="pres">
      <dgm:prSet presAssocID="{810CC872-7AA4-49B1-88C6-5BA5809919D6}" presName="accentRepeatNode" presStyleLbl="solidFgAcc1" presStyleIdx="4" presStyleCnt="7"/>
      <dgm:spPr/>
    </dgm:pt>
    <dgm:pt modelId="{263820CE-E2CE-4C3E-BE75-4281B8F2DABD}" type="pres">
      <dgm:prSet presAssocID="{6D7FFA29-B562-436E-B2CD-C9630AA186F8}" presName="text_6" presStyleLbl="node1" presStyleIdx="5" presStyleCnt="7">
        <dgm:presLayoutVars>
          <dgm:bulletEnabled val="1"/>
        </dgm:presLayoutVars>
      </dgm:prSet>
      <dgm:spPr/>
    </dgm:pt>
    <dgm:pt modelId="{BEC0721F-07C9-4C16-B191-5C2550B78279}" type="pres">
      <dgm:prSet presAssocID="{6D7FFA29-B562-436E-B2CD-C9630AA186F8}" presName="accent_6" presStyleCnt="0"/>
      <dgm:spPr/>
    </dgm:pt>
    <dgm:pt modelId="{DE931494-AF94-4CE8-A58B-E8D696A13D92}" type="pres">
      <dgm:prSet presAssocID="{6D7FFA29-B562-436E-B2CD-C9630AA186F8}" presName="accentRepeatNode" presStyleLbl="solidFgAcc1" presStyleIdx="5" presStyleCnt="7"/>
      <dgm:spPr/>
    </dgm:pt>
    <dgm:pt modelId="{543AFC2B-5968-4E63-AEF1-2834D1141C02}" type="pres">
      <dgm:prSet presAssocID="{972F58D3-AFD9-4750-9855-D728D878665B}" presName="text_7" presStyleLbl="node1" presStyleIdx="6" presStyleCnt="7">
        <dgm:presLayoutVars>
          <dgm:bulletEnabled val="1"/>
        </dgm:presLayoutVars>
      </dgm:prSet>
      <dgm:spPr/>
    </dgm:pt>
    <dgm:pt modelId="{3127BEFC-6355-4B1C-99A6-75F61DE5D7A9}" type="pres">
      <dgm:prSet presAssocID="{972F58D3-AFD9-4750-9855-D728D878665B}" presName="accent_7" presStyleCnt="0"/>
      <dgm:spPr/>
    </dgm:pt>
    <dgm:pt modelId="{2E242B30-AA17-49B1-AAEE-315A87CE1DF7}" type="pres">
      <dgm:prSet presAssocID="{972F58D3-AFD9-4750-9855-D728D878665B}" presName="accentRepeatNode" presStyleLbl="solidFgAcc1" presStyleIdx="6" presStyleCnt="7"/>
      <dgm:spPr/>
    </dgm:pt>
  </dgm:ptLst>
  <dgm:cxnLst>
    <dgm:cxn modelId="{EBB47F0C-0337-472A-AF08-BE0084CE532F}" srcId="{32BF9CC9-5DCB-41CB-A975-80A8F1CEFB9F}" destId="{8B72A94E-BEA4-41F6-A824-271941E3513E}" srcOrd="2" destOrd="0" parTransId="{AB3D2465-F2C3-4E33-A7B5-773636A877D7}" sibTransId="{90584842-72B7-4E6D-BDB3-A7CE1E82F5E0}"/>
    <dgm:cxn modelId="{C3C68C37-939D-41CB-8CC1-29ABC402DEA6}" srcId="{32BF9CC9-5DCB-41CB-A975-80A8F1CEFB9F}" destId="{0D6A71EA-5A7A-492E-B5A6-751FB827D75B}" srcOrd="1" destOrd="0" parTransId="{292F1609-9D16-46C1-9B0E-434DC9CF4BD1}" sibTransId="{781AB272-12C6-4E7C-B0BE-2B79E062DACE}"/>
    <dgm:cxn modelId="{3D9B0540-718E-426B-80E8-67C962BE8E5C}" srcId="{32BF9CC9-5DCB-41CB-A975-80A8F1CEFB9F}" destId="{810CC872-7AA4-49B1-88C6-5BA5809919D6}" srcOrd="4" destOrd="0" parTransId="{2DBCEB75-7EA8-45D6-A4E4-F5127160B9A7}" sibTransId="{8C8477BE-AEFF-45FD-9D76-D40F44A5E5AF}"/>
    <dgm:cxn modelId="{F8218143-EFBA-4907-AF62-C21A29416D7D}" type="presOf" srcId="{810CC872-7AA4-49B1-88C6-5BA5809919D6}" destId="{370939C2-EAE2-4110-8F22-D1FC10EC9395}" srcOrd="0" destOrd="0" presId="urn:microsoft.com/office/officeart/2008/layout/VerticalCurvedList"/>
    <dgm:cxn modelId="{9AB23949-519B-4E4E-8B8D-9E5E29C70F71}" type="presOf" srcId="{32BF9CC9-5DCB-41CB-A975-80A8F1CEFB9F}" destId="{124D355B-FC69-44C7-8BC8-4AC84C3BC11F}" srcOrd="0" destOrd="0" presId="urn:microsoft.com/office/officeart/2008/layout/VerticalCurvedList"/>
    <dgm:cxn modelId="{6BAC156F-83F2-42B8-B169-90063E1F40DB}" type="presOf" srcId="{0D6A71EA-5A7A-492E-B5A6-751FB827D75B}" destId="{6790A25B-79AB-4B66-9A6B-90E1F21A4D66}" srcOrd="0" destOrd="0" presId="urn:microsoft.com/office/officeart/2008/layout/VerticalCurvedList"/>
    <dgm:cxn modelId="{4CA9B775-6A71-478B-A05A-D20B6A196664}" type="presOf" srcId="{C6EF5A11-652C-4311-9ADC-9ACA6D9C90D8}" destId="{9F483D7E-E38E-450F-A92E-284BD11C46EF}" srcOrd="0" destOrd="0" presId="urn:microsoft.com/office/officeart/2008/layout/VerticalCurvedList"/>
    <dgm:cxn modelId="{63EF8876-88CC-46DF-8372-55AF181934C8}" srcId="{32BF9CC9-5DCB-41CB-A975-80A8F1CEFB9F}" destId="{E7BF61A4-86CD-4ECF-96C7-63DE881C474D}" srcOrd="3" destOrd="0" parTransId="{EEFCB87C-0E9D-4182-9BD2-BF15A5CD847B}" sibTransId="{6B7860D6-D02C-4D84-B441-FE8A0DFF3373}"/>
    <dgm:cxn modelId="{85AC3659-C9F4-4E1A-99D3-6129BCDE9804}" type="presOf" srcId="{8B72A94E-BEA4-41F6-A824-271941E3513E}" destId="{21804948-1620-4781-BFC6-007EC8E4580F}" srcOrd="0" destOrd="0" presId="urn:microsoft.com/office/officeart/2008/layout/VerticalCurvedList"/>
    <dgm:cxn modelId="{5D3D2E80-6DB9-4AF2-8045-272220E519D1}" type="presOf" srcId="{79C7C858-E793-4B0B-B219-C9F97EAB66E6}" destId="{1664AD0C-4682-402E-971B-D643647A142D}" srcOrd="0" destOrd="0" presId="urn:microsoft.com/office/officeart/2008/layout/VerticalCurvedList"/>
    <dgm:cxn modelId="{6376F180-CA87-4F99-9F64-752090C7760E}" type="presOf" srcId="{6D7FFA29-B562-436E-B2CD-C9630AA186F8}" destId="{263820CE-E2CE-4C3E-BE75-4281B8F2DABD}" srcOrd="0" destOrd="0" presId="urn:microsoft.com/office/officeart/2008/layout/VerticalCurvedList"/>
    <dgm:cxn modelId="{8B168FC3-FD56-4347-8854-7AF340E4EE5B}" type="presOf" srcId="{E7BF61A4-86CD-4ECF-96C7-63DE881C474D}" destId="{88FA3052-A200-45EE-AC5B-385352DE359B}" srcOrd="0" destOrd="0" presId="urn:microsoft.com/office/officeart/2008/layout/VerticalCurvedList"/>
    <dgm:cxn modelId="{AB266EC6-C2A2-41E9-AB09-A43D86461131}" srcId="{32BF9CC9-5DCB-41CB-A975-80A8F1CEFB9F}" destId="{972F58D3-AFD9-4750-9855-D728D878665B}" srcOrd="6" destOrd="0" parTransId="{D58AC6F0-2C13-4B70-9328-CD9C18613962}" sibTransId="{33C627F0-B896-4702-8FF6-779112BB5728}"/>
    <dgm:cxn modelId="{31483FCA-1BAB-4C58-B133-DEAC972CC492}" type="presOf" srcId="{972F58D3-AFD9-4750-9855-D728D878665B}" destId="{543AFC2B-5968-4E63-AEF1-2834D1141C02}" srcOrd="0" destOrd="0" presId="urn:microsoft.com/office/officeart/2008/layout/VerticalCurvedList"/>
    <dgm:cxn modelId="{608DE6E2-D085-4332-BA81-5AF55A9BC01C}" srcId="{32BF9CC9-5DCB-41CB-A975-80A8F1CEFB9F}" destId="{C6EF5A11-652C-4311-9ADC-9ACA6D9C90D8}" srcOrd="0" destOrd="0" parTransId="{958C8D4D-5D8B-406E-BE9E-0B76E93E3682}" sibTransId="{79C7C858-E793-4B0B-B219-C9F97EAB66E6}"/>
    <dgm:cxn modelId="{7DB87FFD-596B-4AA4-B729-42F2B8612FCA}" srcId="{32BF9CC9-5DCB-41CB-A975-80A8F1CEFB9F}" destId="{6D7FFA29-B562-436E-B2CD-C9630AA186F8}" srcOrd="5" destOrd="0" parTransId="{B47B41F6-8BA2-4761-BE32-9937694A2E0F}" sibTransId="{C841BFB2-5670-48C8-A50A-06AA40BE81A2}"/>
    <dgm:cxn modelId="{B1AB9DF6-2404-4C74-8A39-2AC186F34FD0}" type="presParOf" srcId="{124D355B-FC69-44C7-8BC8-4AC84C3BC11F}" destId="{ECE6F3D6-1247-456D-991D-A467324A8E95}" srcOrd="0" destOrd="0" presId="urn:microsoft.com/office/officeart/2008/layout/VerticalCurvedList"/>
    <dgm:cxn modelId="{4541723B-2BBE-4781-96AA-B9ACD0C47A72}" type="presParOf" srcId="{ECE6F3D6-1247-456D-991D-A467324A8E95}" destId="{6A98FA38-74CF-458A-B57F-42B83970C305}" srcOrd="0" destOrd="0" presId="urn:microsoft.com/office/officeart/2008/layout/VerticalCurvedList"/>
    <dgm:cxn modelId="{106DB0CD-DF21-466D-A2F7-3E02F01C8F08}" type="presParOf" srcId="{6A98FA38-74CF-458A-B57F-42B83970C305}" destId="{2351B8EE-974A-42F9-B434-7596C6BE1342}" srcOrd="0" destOrd="0" presId="urn:microsoft.com/office/officeart/2008/layout/VerticalCurvedList"/>
    <dgm:cxn modelId="{49C0E8AD-D214-4EAB-9BC5-2FF10D9CF4D0}" type="presParOf" srcId="{6A98FA38-74CF-458A-B57F-42B83970C305}" destId="{1664AD0C-4682-402E-971B-D643647A142D}" srcOrd="1" destOrd="0" presId="urn:microsoft.com/office/officeart/2008/layout/VerticalCurvedList"/>
    <dgm:cxn modelId="{E0FFC84E-4137-49B4-975D-29E12E6101D1}" type="presParOf" srcId="{6A98FA38-74CF-458A-B57F-42B83970C305}" destId="{E8B39A32-4182-4A07-9852-357358141247}" srcOrd="2" destOrd="0" presId="urn:microsoft.com/office/officeart/2008/layout/VerticalCurvedList"/>
    <dgm:cxn modelId="{C193302D-60BB-4780-8D69-042921C89805}" type="presParOf" srcId="{6A98FA38-74CF-458A-B57F-42B83970C305}" destId="{A73FED8D-9D16-4646-BD53-94F09F1D6F4C}" srcOrd="3" destOrd="0" presId="urn:microsoft.com/office/officeart/2008/layout/VerticalCurvedList"/>
    <dgm:cxn modelId="{EE7ED914-60DB-475A-9E3F-D0D87F9415A6}" type="presParOf" srcId="{ECE6F3D6-1247-456D-991D-A467324A8E95}" destId="{9F483D7E-E38E-450F-A92E-284BD11C46EF}" srcOrd="1" destOrd="0" presId="urn:microsoft.com/office/officeart/2008/layout/VerticalCurvedList"/>
    <dgm:cxn modelId="{BC9E2494-2E61-43B9-B81F-E3FB5768B8F9}" type="presParOf" srcId="{ECE6F3D6-1247-456D-991D-A467324A8E95}" destId="{486F900A-F39A-4133-8ABA-E1672219F6C2}" srcOrd="2" destOrd="0" presId="urn:microsoft.com/office/officeart/2008/layout/VerticalCurvedList"/>
    <dgm:cxn modelId="{96184A8B-6426-4D9B-A4F7-27D79B2B4653}" type="presParOf" srcId="{486F900A-F39A-4133-8ABA-E1672219F6C2}" destId="{6657D6DF-8336-48AF-B179-74029425EDEE}" srcOrd="0" destOrd="0" presId="urn:microsoft.com/office/officeart/2008/layout/VerticalCurvedList"/>
    <dgm:cxn modelId="{15F8AE74-D917-4212-A40A-052041007398}" type="presParOf" srcId="{ECE6F3D6-1247-456D-991D-A467324A8E95}" destId="{6790A25B-79AB-4B66-9A6B-90E1F21A4D66}" srcOrd="3" destOrd="0" presId="urn:microsoft.com/office/officeart/2008/layout/VerticalCurvedList"/>
    <dgm:cxn modelId="{E2EFA924-22DD-4217-B932-7C954A2418FE}" type="presParOf" srcId="{ECE6F3D6-1247-456D-991D-A467324A8E95}" destId="{68B3AF03-5575-4065-AAA8-146C4BD8B563}" srcOrd="4" destOrd="0" presId="urn:microsoft.com/office/officeart/2008/layout/VerticalCurvedList"/>
    <dgm:cxn modelId="{BEEC5CC5-2FB8-4CE2-B37D-898F64177A3E}" type="presParOf" srcId="{68B3AF03-5575-4065-AAA8-146C4BD8B563}" destId="{5CF63DEE-1977-4087-BB4C-BC46540AC0B8}" srcOrd="0" destOrd="0" presId="urn:microsoft.com/office/officeart/2008/layout/VerticalCurvedList"/>
    <dgm:cxn modelId="{9DCBBFD0-A129-487E-808B-C999CF005880}" type="presParOf" srcId="{ECE6F3D6-1247-456D-991D-A467324A8E95}" destId="{21804948-1620-4781-BFC6-007EC8E4580F}" srcOrd="5" destOrd="0" presId="urn:microsoft.com/office/officeart/2008/layout/VerticalCurvedList"/>
    <dgm:cxn modelId="{32E3E5AE-0776-4C18-B353-25CB7EE5A6FB}" type="presParOf" srcId="{ECE6F3D6-1247-456D-991D-A467324A8E95}" destId="{D9EE84D4-34D1-487F-989C-E12BF59CC129}" srcOrd="6" destOrd="0" presId="urn:microsoft.com/office/officeart/2008/layout/VerticalCurvedList"/>
    <dgm:cxn modelId="{2BBD033E-3D5B-447E-9952-31DB7A6F9C01}" type="presParOf" srcId="{D9EE84D4-34D1-487F-989C-E12BF59CC129}" destId="{E4B1B72C-D1F9-4F27-87F9-B7FE7D3CAA30}" srcOrd="0" destOrd="0" presId="urn:microsoft.com/office/officeart/2008/layout/VerticalCurvedList"/>
    <dgm:cxn modelId="{98D28813-DE6B-4C8A-A287-4B594E7BA250}" type="presParOf" srcId="{ECE6F3D6-1247-456D-991D-A467324A8E95}" destId="{88FA3052-A200-45EE-AC5B-385352DE359B}" srcOrd="7" destOrd="0" presId="urn:microsoft.com/office/officeart/2008/layout/VerticalCurvedList"/>
    <dgm:cxn modelId="{02ED58F8-E1F1-41FF-97D4-B10E829DF880}" type="presParOf" srcId="{ECE6F3D6-1247-456D-991D-A467324A8E95}" destId="{B9EA40AC-9F77-4350-842E-31AEC79A07DD}" srcOrd="8" destOrd="0" presId="urn:microsoft.com/office/officeart/2008/layout/VerticalCurvedList"/>
    <dgm:cxn modelId="{EC70570D-1156-4BD3-84FA-F3EE6BE6C331}" type="presParOf" srcId="{B9EA40AC-9F77-4350-842E-31AEC79A07DD}" destId="{A626BB4E-6F67-4E73-9019-9BEEC4A3D0BC}" srcOrd="0" destOrd="0" presId="urn:microsoft.com/office/officeart/2008/layout/VerticalCurvedList"/>
    <dgm:cxn modelId="{0685802B-4AE0-41E5-BB9F-20949139C06B}" type="presParOf" srcId="{ECE6F3D6-1247-456D-991D-A467324A8E95}" destId="{370939C2-EAE2-4110-8F22-D1FC10EC9395}" srcOrd="9" destOrd="0" presId="urn:microsoft.com/office/officeart/2008/layout/VerticalCurvedList"/>
    <dgm:cxn modelId="{53A75FF4-3E12-465D-9EA2-5E2CD552516F}" type="presParOf" srcId="{ECE6F3D6-1247-456D-991D-A467324A8E95}" destId="{A47A1CAB-388F-4AEA-B225-EF4654380091}" srcOrd="10" destOrd="0" presId="urn:microsoft.com/office/officeart/2008/layout/VerticalCurvedList"/>
    <dgm:cxn modelId="{E3853744-FA41-4C36-96F0-644BA25A7875}" type="presParOf" srcId="{A47A1CAB-388F-4AEA-B225-EF4654380091}" destId="{1E97B953-905F-4D34-9900-D03F2B782926}" srcOrd="0" destOrd="0" presId="urn:microsoft.com/office/officeart/2008/layout/VerticalCurvedList"/>
    <dgm:cxn modelId="{946DC331-49DE-4774-B0FE-00588DE00237}" type="presParOf" srcId="{ECE6F3D6-1247-456D-991D-A467324A8E95}" destId="{263820CE-E2CE-4C3E-BE75-4281B8F2DABD}" srcOrd="11" destOrd="0" presId="urn:microsoft.com/office/officeart/2008/layout/VerticalCurvedList"/>
    <dgm:cxn modelId="{BD9DD5AB-5EAF-4A89-A8B8-6960082F991B}" type="presParOf" srcId="{ECE6F3D6-1247-456D-991D-A467324A8E95}" destId="{BEC0721F-07C9-4C16-B191-5C2550B78279}" srcOrd="12" destOrd="0" presId="urn:microsoft.com/office/officeart/2008/layout/VerticalCurvedList"/>
    <dgm:cxn modelId="{F338D62E-08AF-4139-9DF6-85AA2A488429}" type="presParOf" srcId="{BEC0721F-07C9-4C16-B191-5C2550B78279}" destId="{DE931494-AF94-4CE8-A58B-E8D696A13D92}" srcOrd="0" destOrd="0" presId="urn:microsoft.com/office/officeart/2008/layout/VerticalCurvedList"/>
    <dgm:cxn modelId="{A3593232-1A02-4CC2-A4BE-9B8C92807498}" type="presParOf" srcId="{ECE6F3D6-1247-456D-991D-A467324A8E95}" destId="{543AFC2B-5968-4E63-AEF1-2834D1141C02}" srcOrd="13" destOrd="0" presId="urn:microsoft.com/office/officeart/2008/layout/VerticalCurvedList"/>
    <dgm:cxn modelId="{2B848887-D2B6-410D-B809-D15DC673E59D}" type="presParOf" srcId="{ECE6F3D6-1247-456D-991D-A467324A8E95}" destId="{3127BEFC-6355-4B1C-99A6-75F61DE5D7A9}" srcOrd="14" destOrd="0" presId="urn:microsoft.com/office/officeart/2008/layout/VerticalCurvedList"/>
    <dgm:cxn modelId="{6A713A19-E2D6-44E6-A41F-5F60ECECAB43}" type="presParOf" srcId="{3127BEFC-6355-4B1C-99A6-75F61DE5D7A9}" destId="{2E242B30-AA17-49B1-AAEE-315A87CE1DF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64AD0C-4682-402E-971B-D643647A142D}">
      <dsp:nvSpPr>
        <dsp:cNvPr id="0" name=""/>
        <dsp:cNvSpPr/>
      </dsp:nvSpPr>
      <dsp:spPr>
        <a:xfrm>
          <a:off x="-5424979" y="-831103"/>
          <a:ext cx="6462806" cy="6462806"/>
        </a:xfrm>
        <a:prstGeom prst="blockArc">
          <a:avLst>
            <a:gd name="adj1" fmla="val 18900000"/>
            <a:gd name="adj2" fmla="val 2700000"/>
            <a:gd name="adj3" fmla="val 334"/>
          </a:avLst>
        </a:prstGeom>
        <a:noFill/>
        <a:ln w="127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483D7E-E38E-450F-A92E-284BD11C46EF}">
      <dsp:nvSpPr>
        <dsp:cNvPr id="0" name=""/>
        <dsp:cNvSpPr/>
      </dsp:nvSpPr>
      <dsp:spPr>
        <a:xfrm>
          <a:off x="336762" y="218235"/>
          <a:ext cx="3713949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Executive Summary</a:t>
          </a:r>
        </a:p>
      </dsp:txBody>
      <dsp:txXfrm>
        <a:off x="336762" y="218235"/>
        <a:ext cx="3713949" cy="436278"/>
      </dsp:txXfrm>
    </dsp:sp>
    <dsp:sp modelId="{6657D6DF-8336-48AF-B179-74029425EDEE}">
      <dsp:nvSpPr>
        <dsp:cNvPr id="0" name=""/>
        <dsp:cNvSpPr/>
      </dsp:nvSpPr>
      <dsp:spPr>
        <a:xfrm>
          <a:off x="64088" y="163700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90A25B-79AB-4B66-9A6B-90E1F21A4D66}">
      <dsp:nvSpPr>
        <dsp:cNvPr id="0" name=""/>
        <dsp:cNvSpPr/>
      </dsp:nvSpPr>
      <dsp:spPr>
        <a:xfrm>
          <a:off x="731851" y="873037"/>
          <a:ext cx="3318860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Introduction</a:t>
          </a:r>
        </a:p>
      </dsp:txBody>
      <dsp:txXfrm>
        <a:off x="731851" y="873037"/>
        <a:ext cx="3318860" cy="436278"/>
      </dsp:txXfrm>
    </dsp:sp>
    <dsp:sp modelId="{5CF63DEE-1977-4087-BB4C-BC46540AC0B8}">
      <dsp:nvSpPr>
        <dsp:cNvPr id="0" name=""/>
        <dsp:cNvSpPr/>
      </dsp:nvSpPr>
      <dsp:spPr>
        <a:xfrm>
          <a:off x="459177" y="818502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26733"/>
              <a:satOff val="4925"/>
              <a:lumOff val="28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804948-1620-4781-BFC6-007EC8E4580F}">
      <dsp:nvSpPr>
        <dsp:cNvPr id="0" name=""/>
        <dsp:cNvSpPr/>
      </dsp:nvSpPr>
      <dsp:spPr>
        <a:xfrm>
          <a:off x="948358" y="1527358"/>
          <a:ext cx="3102353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Methodology</a:t>
          </a:r>
        </a:p>
      </dsp:txBody>
      <dsp:txXfrm>
        <a:off x="948358" y="1527358"/>
        <a:ext cx="3102353" cy="436278"/>
      </dsp:txXfrm>
    </dsp:sp>
    <dsp:sp modelId="{E4B1B72C-D1F9-4F27-87F9-B7FE7D3CAA30}">
      <dsp:nvSpPr>
        <dsp:cNvPr id="0" name=""/>
        <dsp:cNvSpPr/>
      </dsp:nvSpPr>
      <dsp:spPr>
        <a:xfrm>
          <a:off x="675684" y="1472824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53466"/>
              <a:satOff val="9849"/>
              <a:lumOff val="56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FA3052-A200-45EE-AC5B-385352DE359B}">
      <dsp:nvSpPr>
        <dsp:cNvPr id="0" name=""/>
        <dsp:cNvSpPr/>
      </dsp:nvSpPr>
      <dsp:spPr>
        <a:xfrm>
          <a:off x="1017487" y="2182160"/>
          <a:ext cx="3033224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Results</a:t>
          </a:r>
        </a:p>
      </dsp:txBody>
      <dsp:txXfrm>
        <a:off x="1017487" y="2182160"/>
        <a:ext cx="3033224" cy="436278"/>
      </dsp:txXfrm>
    </dsp:sp>
    <dsp:sp modelId="{A626BB4E-6F67-4E73-9019-9BEEC4A3D0BC}">
      <dsp:nvSpPr>
        <dsp:cNvPr id="0" name=""/>
        <dsp:cNvSpPr/>
      </dsp:nvSpPr>
      <dsp:spPr>
        <a:xfrm>
          <a:off x="744813" y="2127625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80199"/>
              <a:satOff val="14774"/>
              <a:lumOff val="84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0939C2-EAE2-4110-8F22-D1FC10EC9395}">
      <dsp:nvSpPr>
        <dsp:cNvPr id="0" name=""/>
        <dsp:cNvSpPr/>
      </dsp:nvSpPr>
      <dsp:spPr>
        <a:xfrm>
          <a:off x="948358" y="2836962"/>
          <a:ext cx="3102353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Discussion</a:t>
          </a:r>
        </a:p>
      </dsp:txBody>
      <dsp:txXfrm>
        <a:off x="948358" y="2836962"/>
        <a:ext cx="3102353" cy="436278"/>
      </dsp:txXfrm>
    </dsp:sp>
    <dsp:sp modelId="{1E97B953-905F-4D34-9900-D03F2B782926}">
      <dsp:nvSpPr>
        <dsp:cNvPr id="0" name=""/>
        <dsp:cNvSpPr/>
      </dsp:nvSpPr>
      <dsp:spPr>
        <a:xfrm>
          <a:off x="675684" y="2782427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106932"/>
              <a:satOff val="19699"/>
              <a:lumOff val="113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3820CE-E2CE-4C3E-BE75-4281B8F2DABD}">
      <dsp:nvSpPr>
        <dsp:cNvPr id="0" name=""/>
        <dsp:cNvSpPr/>
      </dsp:nvSpPr>
      <dsp:spPr>
        <a:xfrm>
          <a:off x="731851" y="3491284"/>
          <a:ext cx="3318860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Conclusion</a:t>
          </a:r>
        </a:p>
      </dsp:txBody>
      <dsp:txXfrm>
        <a:off x="731851" y="3491284"/>
        <a:ext cx="3318860" cy="436278"/>
      </dsp:txXfrm>
    </dsp:sp>
    <dsp:sp modelId="{DE931494-AF94-4CE8-A58B-E8D696A13D92}">
      <dsp:nvSpPr>
        <dsp:cNvPr id="0" name=""/>
        <dsp:cNvSpPr/>
      </dsp:nvSpPr>
      <dsp:spPr>
        <a:xfrm>
          <a:off x="459177" y="3436749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133665"/>
              <a:satOff val="24623"/>
              <a:lumOff val="141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3AFC2B-5968-4E63-AEF1-2834D1141C02}">
      <dsp:nvSpPr>
        <dsp:cNvPr id="0" name=""/>
        <dsp:cNvSpPr/>
      </dsp:nvSpPr>
      <dsp:spPr>
        <a:xfrm>
          <a:off x="336762" y="4146086"/>
          <a:ext cx="3713949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Appendix</a:t>
          </a:r>
        </a:p>
      </dsp:txBody>
      <dsp:txXfrm>
        <a:off x="336762" y="4146086"/>
        <a:ext cx="3713949" cy="436278"/>
      </dsp:txXfrm>
    </dsp:sp>
    <dsp:sp modelId="{2E242B30-AA17-49B1-AAEE-315A87CE1DF7}">
      <dsp:nvSpPr>
        <dsp:cNvPr id="0" name=""/>
        <dsp:cNvSpPr/>
      </dsp:nvSpPr>
      <dsp:spPr>
        <a:xfrm>
          <a:off x="64088" y="4091551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160399"/>
              <a:satOff val="29548"/>
              <a:lumOff val="169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i-can-turan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18" Type="http://schemas.openxmlformats.org/officeDocument/2006/relationships/diagramColors" Target="../diagrams/colors1.xml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17" Type="http://schemas.openxmlformats.org/officeDocument/2006/relationships/diagramQuickStyle" Target="../diagrams/quickStyle1.xml"/><Relationship Id="rId2" Type="http://schemas.openxmlformats.org/officeDocument/2006/relationships/slideLayout" Target="../slideLayouts/slideLayout2.xml"/><Relationship Id="rId16" Type="http://schemas.openxmlformats.org/officeDocument/2006/relationships/diagramLayout" Target="../diagrams/layout1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5" Type="http://schemas.openxmlformats.org/officeDocument/2006/relationships/diagramData" Target="../diagrams/data1.xml"/><Relationship Id="rId10" Type="http://schemas.openxmlformats.org/officeDocument/2006/relationships/customXml" Target="../ink/ink5.xml"/><Relationship Id="rId19" Type="http://schemas.microsoft.com/office/2007/relationships/diagramDrawing" Target="../diagrams/drawing1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hyperlink" Target="https://github.com/ali-can-turan/ibm-capston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Relationship Id="rId4" Type="http://schemas.openxmlformats.org/officeDocument/2006/relationships/hyperlink" Target="https://github.com/ali-can-turan/ibm-capstone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162"/>
            <a:ext cx="10515600" cy="611620"/>
          </a:xfrm>
        </p:spPr>
        <p:txBody>
          <a:bodyPr anchor="ctr">
            <a:noAutofit/>
          </a:bodyPr>
          <a:lstStyle/>
          <a:p>
            <a:r>
              <a:rPr lang="en-US" sz="3800" noProof="0" dirty="0"/>
              <a:t>IBM – Capstone: Today and Future of Coding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7738" y="5410199"/>
            <a:ext cx="4572000" cy="76200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noProof="0" dirty="0">
                <a:solidFill>
                  <a:schemeClr val="tx1"/>
                </a:solidFill>
                <a:latin typeface="IBM Plex Mono Medium" panose="020B0609050203000203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https://github.com/ali-can-turan</a:t>
            </a:r>
            <a:endParaRPr lang="en-US" sz="2000" noProof="0" dirty="0">
              <a:solidFill>
                <a:schemeClr val="tx1"/>
              </a:solidFill>
              <a:latin typeface="IBM Plex Mono Medium" panose="020B0609050203000203" pitchFamily="49" charset="0"/>
            </a:endParaRPr>
          </a:p>
          <a:p>
            <a:pPr marL="0" indent="0">
              <a:buNone/>
            </a:pPr>
            <a:r>
              <a:rPr lang="en-US" sz="2000" u="sng" noProof="0" dirty="0">
                <a:solidFill>
                  <a:schemeClr val="tx1"/>
                </a:solidFill>
              </a:rPr>
              <a:t>ali.can.turan@outlook.com</a:t>
            </a:r>
            <a:endParaRPr lang="en-US" sz="2000" noProof="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9811" y="1600200"/>
            <a:ext cx="5038015" cy="4572000"/>
          </a:xfrm>
          <a:prstGeom prst="rect">
            <a:avLst/>
          </a:prstGeom>
          <a:noFill/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A6FCAA40-1D54-DB71-6D5B-9803F0FEEB28}"/>
              </a:ext>
            </a:extLst>
          </p:cNvPr>
          <p:cNvSpPr txBox="1">
            <a:spLocks/>
          </p:cNvSpPr>
          <p:nvPr/>
        </p:nvSpPr>
        <p:spPr>
          <a:xfrm>
            <a:off x="838199" y="1600200"/>
            <a:ext cx="45720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noProof="0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Ali Can TURAN</a:t>
            </a:r>
          </a:p>
          <a:p>
            <a:pPr marL="0" indent="0">
              <a:buFont typeface="Arial"/>
              <a:buNone/>
            </a:pPr>
            <a:r>
              <a:rPr lang="tr-TR" dirty="0" err="1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Associate</a:t>
            </a:r>
            <a:r>
              <a:rPr lang="tr-TR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 </a:t>
            </a:r>
            <a:r>
              <a:rPr lang="en-US" noProof="0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Data Analyst</a:t>
            </a:r>
          </a:p>
          <a:p>
            <a:pPr marL="0" indent="0">
              <a:buFont typeface="Arial"/>
              <a:buNone/>
            </a:pPr>
            <a:r>
              <a:rPr lang="en-US" noProof="0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05/08/2026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 noProof="0" dirty="0"/>
              <a:t>OUTLINE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281C8AC-42F0-C491-A0B2-B05E952350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1608952"/>
              </p:ext>
            </p:extLst>
          </p:nvPr>
        </p:nvGraphicFramePr>
        <p:xfrm>
          <a:off x="5943600" y="1295400"/>
          <a:ext cx="41148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609600" y="1524000"/>
            <a:ext cx="5791200" cy="46481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sz="1600" b="1" noProof="0" dirty="0">
                <a:solidFill>
                  <a:srgbClr val="ED8428"/>
                </a:solidFill>
              </a:rPr>
              <a:t>Washington DC: </a:t>
            </a:r>
            <a:r>
              <a:rPr lang="en-US" sz="1600" noProof="0" dirty="0"/>
              <a:t>the largest quantity of available jobs on the market.</a:t>
            </a:r>
          </a:p>
          <a:p>
            <a:pPr>
              <a:lnSpc>
                <a:spcPct val="150000"/>
              </a:lnSpc>
            </a:pPr>
            <a:r>
              <a:rPr lang="en-US" sz="1600" b="1" noProof="0" dirty="0">
                <a:solidFill>
                  <a:srgbClr val="ED8428"/>
                </a:solidFill>
              </a:rPr>
              <a:t>Full-time employees: </a:t>
            </a:r>
            <a:r>
              <a:rPr lang="en-US" sz="1600" noProof="0" dirty="0"/>
              <a:t>mainly bachelor’s degree holders.</a:t>
            </a:r>
          </a:p>
          <a:p>
            <a:pPr lvl="0">
              <a:lnSpc>
                <a:spcPct val="150000"/>
              </a:lnSpc>
            </a:pPr>
            <a:r>
              <a:rPr lang="en-US" sz="1600" b="1" noProof="0" dirty="0">
                <a:solidFill>
                  <a:srgbClr val="ED8428"/>
                </a:solidFill>
              </a:rPr>
              <a:t>75% reported earning 100,000 $ or less annually.</a:t>
            </a:r>
          </a:p>
          <a:p>
            <a:pPr lvl="1">
              <a:lnSpc>
                <a:spcPct val="150000"/>
              </a:lnSpc>
            </a:pPr>
            <a:r>
              <a:rPr lang="en-US" sz="1600" b="1" noProof="0" dirty="0"/>
              <a:t>500,000 $ or more:  </a:t>
            </a:r>
            <a:r>
              <a:rPr lang="en-US" sz="1600" noProof="0" dirty="0"/>
              <a:t>more than half are 25-34 years old.</a:t>
            </a:r>
          </a:p>
          <a:p>
            <a:pPr lvl="1">
              <a:lnSpc>
                <a:spcPct val="150000"/>
              </a:lnSpc>
            </a:pPr>
            <a:r>
              <a:rPr lang="tr-TR" sz="1600" b="1" noProof="0" dirty="0" err="1"/>
              <a:t>The</a:t>
            </a:r>
            <a:r>
              <a:rPr lang="tr-TR" sz="1600" b="1" noProof="0" dirty="0"/>
              <a:t> </a:t>
            </a:r>
            <a:r>
              <a:rPr lang="tr-TR" sz="1600" b="1" noProof="0" dirty="0" err="1"/>
              <a:t>most</a:t>
            </a:r>
            <a:r>
              <a:rPr lang="tr-TR" sz="1600" b="1" noProof="0" dirty="0"/>
              <a:t> </a:t>
            </a:r>
            <a:r>
              <a:rPr lang="tr-TR" sz="1600" b="1" noProof="0" dirty="0" err="1"/>
              <a:t>stretched</a:t>
            </a:r>
            <a:r>
              <a:rPr lang="tr-TR" sz="1600" b="1" noProof="0" dirty="0"/>
              <a:t> </a:t>
            </a:r>
            <a:r>
              <a:rPr lang="tr-TR" sz="1600" b="1" noProof="0" dirty="0" err="1"/>
              <a:t>and</a:t>
            </a:r>
            <a:r>
              <a:rPr lang="tr-TR" sz="1600" b="1" noProof="0" dirty="0"/>
              <a:t> </a:t>
            </a:r>
            <a:r>
              <a:rPr lang="tr-TR" sz="1600" b="1" noProof="0" dirty="0" err="1"/>
              <a:t>the</a:t>
            </a:r>
            <a:r>
              <a:rPr lang="tr-TR" sz="1600" b="1" noProof="0" dirty="0"/>
              <a:t> </a:t>
            </a:r>
            <a:r>
              <a:rPr lang="tr-TR" sz="1600" b="1" noProof="0" dirty="0" err="1"/>
              <a:t>highest</a:t>
            </a:r>
            <a:r>
              <a:rPr lang="tr-TR" sz="1600" b="1" noProof="0" dirty="0"/>
              <a:t>: </a:t>
            </a:r>
            <a:r>
              <a:rPr lang="tr-TR" sz="1600" noProof="0" dirty="0" err="1"/>
              <a:t>India</a:t>
            </a:r>
            <a:r>
              <a:rPr lang="tr-TR" sz="1600" noProof="0" dirty="0"/>
              <a:t> </a:t>
            </a:r>
            <a:r>
              <a:rPr lang="tr-TR" sz="1600" noProof="0" dirty="0" err="1"/>
              <a:t>and</a:t>
            </a:r>
            <a:r>
              <a:rPr lang="tr-TR" sz="1600" noProof="0" dirty="0"/>
              <a:t> USA </a:t>
            </a:r>
            <a:r>
              <a:rPr lang="tr-TR" sz="1600" noProof="0" dirty="0" err="1"/>
              <a:t>respectively</a:t>
            </a:r>
            <a:r>
              <a:rPr lang="tr-TR" sz="1600" noProof="0" dirty="0"/>
              <a:t>. </a:t>
            </a:r>
            <a:r>
              <a:rPr lang="tr-TR" sz="800" u="sng" noProof="0" dirty="0"/>
              <a:t>(</a:t>
            </a:r>
            <a:r>
              <a:rPr lang="tr-TR" sz="800" u="sng" noProof="0" dirty="0" err="1"/>
              <a:t>Appendix</a:t>
            </a:r>
            <a:r>
              <a:rPr lang="tr-TR" sz="800" u="sng" noProof="0" dirty="0"/>
              <a:t> </a:t>
            </a:r>
            <a:r>
              <a:rPr lang="tr-TR" sz="800" u="sng" noProof="0" dirty="0" err="1"/>
              <a:t>for</a:t>
            </a:r>
            <a:r>
              <a:rPr lang="tr-TR" sz="800" u="sng" noProof="0" dirty="0"/>
              <a:t> </a:t>
            </a:r>
            <a:r>
              <a:rPr lang="tr-TR" sz="800" u="sng" noProof="0" dirty="0" err="1"/>
              <a:t>patterns</a:t>
            </a:r>
            <a:r>
              <a:rPr lang="tr-TR" sz="800" u="sng" noProof="0" dirty="0"/>
              <a:t> in </a:t>
            </a:r>
            <a:r>
              <a:rPr lang="tr-TR" sz="800" u="sng" noProof="0" dirty="0" err="1"/>
              <a:t>the</a:t>
            </a:r>
            <a:r>
              <a:rPr lang="tr-TR" sz="800" u="sng" noProof="0" dirty="0"/>
              <a:t> top 5 </a:t>
            </a:r>
            <a:r>
              <a:rPr lang="tr-TR" sz="800" u="sng" noProof="0" dirty="0" err="1"/>
              <a:t>countries</a:t>
            </a:r>
            <a:r>
              <a:rPr lang="tr-TR" sz="800" u="sng" noProof="0" dirty="0"/>
              <a:t>.)</a:t>
            </a:r>
            <a:endParaRPr lang="en-US" sz="800" u="sng" noProof="0" dirty="0"/>
          </a:p>
          <a:p>
            <a:pPr lvl="1">
              <a:lnSpc>
                <a:spcPct val="150000"/>
              </a:lnSpc>
            </a:pPr>
            <a:r>
              <a:rPr lang="en-US" sz="1600" b="1" noProof="0" dirty="0"/>
              <a:t>The highest </a:t>
            </a:r>
            <a:r>
              <a:rPr lang="en-US" sz="1600" noProof="0" dirty="0"/>
              <a:t>for engineering managers and </a:t>
            </a:r>
            <a:r>
              <a:rPr lang="en-US" sz="1600" b="1" noProof="0" dirty="0"/>
              <a:t>the lowest </a:t>
            </a:r>
            <a:r>
              <a:rPr lang="en-US" sz="1600" noProof="0" dirty="0"/>
              <a:t>for academic researchers EXCLUDING students.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13514"/>
            <a:ext cx="1453666" cy="145366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B6B02F3-0900-8F9A-E242-25772E52A556}"/>
              </a:ext>
            </a:extLst>
          </p:cNvPr>
          <p:cNvSpPr txBox="1">
            <a:spLocks/>
          </p:cNvSpPr>
          <p:nvPr/>
        </p:nvSpPr>
        <p:spPr>
          <a:xfrm>
            <a:off x="6483808" y="1524000"/>
            <a:ext cx="5174792" cy="4789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b="1" noProof="0" dirty="0">
                <a:solidFill>
                  <a:srgbClr val="ED8428"/>
                </a:solidFill>
              </a:rPr>
              <a:t>Preferred tools and systems: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Windows: (35%)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Amazon Web Services: (32%)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JavaScript: (60%)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PostgreSQL: (34%)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 err="1"/>
              <a:t>VSC</a:t>
            </a:r>
            <a:r>
              <a:rPr lang="en-US" sz="1600" noProof="0" dirty="0"/>
              <a:t>: (72%)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React: (11%)</a:t>
            </a:r>
          </a:p>
          <a:p>
            <a:pPr marL="228600" lvl="1">
              <a:lnSpc>
                <a:spcPct val="150000"/>
              </a:lnSpc>
              <a:spcBef>
                <a:spcPts val="1000"/>
              </a:spcBef>
            </a:pPr>
            <a:r>
              <a:rPr lang="en-US" sz="1600" b="1" noProof="0" dirty="0">
                <a:solidFill>
                  <a:srgbClr val="ED8428"/>
                </a:solidFill>
              </a:rPr>
              <a:t>Job Satisfaction:</a:t>
            </a:r>
          </a:p>
          <a:p>
            <a:pPr marL="685800" lvl="2">
              <a:lnSpc>
                <a:spcPct val="150000"/>
              </a:lnSpc>
            </a:pPr>
            <a:r>
              <a:rPr lang="en-US" sz="1600" noProof="0" dirty="0"/>
              <a:t>Decreases gradually after 3 years of experience and increases considerably after 20 years of work experience.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E8BE3FFE-62D8-4170-63AB-17C1A7C93359}"/>
              </a:ext>
            </a:extLst>
          </p:cNvPr>
          <p:cNvSpPr/>
          <p:nvPr/>
        </p:nvSpPr>
        <p:spPr>
          <a:xfrm>
            <a:off x="4191000" y="4847309"/>
            <a:ext cx="7315200" cy="0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2885B688-4703-DC4C-114B-AFEAEA71DEE6}"/>
              </a:ext>
            </a:extLst>
          </p:cNvPr>
          <p:cNvSpPr/>
          <p:nvPr/>
        </p:nvSpPr>
        <p:spPr>
          <a:xfrm>
            <a:off x="4191000" y="3485353"/>
            <a:ext cx="7315200" cy="0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1BA6F7F1-7629-4094-0499-853871AEA83B}"/>
              </a:ext>
            </a:extLst>
          </p:cNvPr>
          <p:cNvSpPr/>
          <p:nvPr/>
        </p:nvSpPr>
        <p:spPr>
          <a:xfrm>
            <a:off x="4191000" y="2123397"/>
            <a:ext cx="7315200" cy="0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DBDDB8-3887-E1FA-EF1B-5C539BC9FA6F}"/>
              </a:ext>
            </a:extLst>
          </p:cNvPr>
          <p:cNvSpPr/>
          <p:nvPr/>
        </p:nvSpPr>
        <p:spPr>
          <a:xfrm>
            <a:off x="4191000" y="1676898"/>
            <a:ext cx="1901952" cy="446499"/>
          </a:xfrm>
          <a:custGeom>
            <a:avLst/>
            <a:gdLst>
              <a:gd name="csX0" fmla="*/ 74431 w 1901952"/>
              <a:gd name="csY0" fmla="*/ 0 h 446499"/>
              <a:gd name="csX1" fmla="*/ 1827521 w 1901952"/>
              <a:gd name="csY1" fmla="*/ 0 h 446499"/>
              <a:gd name="csX2" fmla="*/ 1901952 w 1901952"/>
              <a:gd name="csY2" fmla="*/ 74431 h 446499"/>
              <a:gd name="csX3" fmla="*/ 1901952 w 1901952"/>
              <a:gd name="csY3" fmla="*/ 446499 h 446499"/>
              <a:gd name="csX4" fmla="*/ 1901952 w 1901952"/>
              <a:gd name="csY4" fmla="*/ 446499 h 446499"/>
              <a:gd name="csX5" fmla="*/ 0 w 1901952"/>
              <a:gd name="csY5" fmla="*/ 446499 h 446499"/>
              <a:gd name="csX6" fmla="*/ 0 w 1901952"/>
              <a:gd name="csY6" fmla="*/ 446499 h 446499"/>
              <a:gd name="csX7" fmla="*/ 0 w 1901952"/>
              <a:gd name="csY7" fmla="*/ 74431 h 446499"/>
              <a:gd name="csX8" fmla="*/ 74431 w 1901952"/>
              <a:gd name="csY8" fmla="*/ 0 h 4464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01952" h="446499">
                <a:moveTo>
                  <a:pt x="74431" y="0"/>
                </a:moveTo>
                <a:lnTo>
                  <a:pt x="1827521" y="0"/>
                </a:lnTo>
                <a:cubicBezTo>
                  <a:pt x="1868628" y="0"/>
                  <a:pt x="1901952" y="33324"/>
                  <a:pt x="1901952" y="74431"/>
                </a:cubicBezTo>
                <a:lnTo>
                  <a:pt x="1901952" y="446499"/>
                </a:lnTo>
                <a:lnTo>
                  <a:pt x="1901952" y="446499"/>
                </a:lnTo>
                <a:lnTo>
                  <a:pt x="0" y="446499"/>
                </a:lnTo>
                <a:lnTo>
                  <a:pt x="0" y="446499"/>
                </a:lnTo>
                <a:lnTo>
                  <a:pt x="0" y="74431"/>
                </a:lnTo>
                <a:cubicBezTo>
                  <a:pt x="0" y="33324"/>
                  <a:pt x="33324" y="0"/>
                  <a:pt x="74431" y="0"/>
                </a:cubicBez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710" tIns="63710" rIns="63710" bIns="41910" numCol="1" spcCol="1270" anchor="ctr" anchorCtr="0">
            <a:noAutofit/>
          </a:bodyPr>
          <a:lstStyle/>
          <a:p>
            <a:pPr marL="0" lvl="0" indent="0" algn="l" defTabSz="9779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Aim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096CF5-DB7A-A5BF-AF9F-BE1AC7B23B72}"/>
              </a:ext>
            </a:extLst>
          </p:cNvPr>
          <p:cNvSpPr/>
          <p:nvPr/>
        </p:nvSpPr>
        <p:spPr>
          <a:xfrm>
            <a:off x="4191000" y="2123397"/>
            <a:ext cx="7315200" cy="893132"/>
          </a:xfrm>
          <a:custGeom>
            <a:avLst/>
            <a:gdLst>
              <a:gd name="csX0" fmla="*/ 0 w 7315200"/>
              <a:gd name="csY0" fmla="*/ 0 h 893132"/>
              <a:gd name="csX1" fmla="*/ 7315200 w 7315200"/>
              <a:gd name="csY1" fmla="*/ 0 h 893132"/>
              <a:gd name="csX2" fmla="*/ 7315200 w 7315200"/>
              <a:gd name="csY2" fmla="*/ 893132 h 893132"/>
              <a:gd name="csX3" fmla="*/ 0 w 7315200"/>
              <a:gd name="csY3" fmla="*/ 893132 h 893132"/>
              <a:gd name="csX4" fmla="*/ 0 w 7315200"/>
              <a:gd name="csY4" fmla="*/ 0 h 893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15200" h="893132">
                <a:moveTo>
                  <a:pt x="0" y="0"/>
                </a:moveTo>
                <a:lnTo>
                  <a:pt x="7315200" y="0"/>
                </a:lnTo>
                <a:lnTo>
                  <a:pt x="7315200" y="893132"/>
                </a:lnTo>
                <a:lnTo>
                  <a:pt x="0" y="89313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34290" rIns="34290" bIns="34290" numCol="1" spcCol="1270" anchor="t" anchorCtr="0">
            <a:noAutofit/>
          </a:bodyPr>
          <a:lstStyle/>
          <a:p>
            <a:pPr marL="114300" lvl="1" indent="-114300" algn="l" defTabSz="6223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kern="1200" noProof="0" dirty="0">
                <a:solidFill>
                  <a:schemeClr val="tx1"/>
                </a:solidFill>
              </a:rPr>
              <a:t>To extract popular coding environments and tools,</a:t>
            </a:r>
            <a:endParaRPr lang="en-US" sz="1400" kern="1200" noProof="0" dirty="0"/>
          </a:p>
          <a:p>
            <a:pPr marL="114300" lvl="1" indent="-114300" algn="l" defTabSz="6223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kern="1200" noProof="0" dirty="0">
                <a:solidFill>
                  <a:schemeClr val="tx1"/>
                </a:solidFill>
              </a:rPr>
              <a:t>To explore their relations to education level, compensation and satisfaction levels at job.</a:t>
            </a:r>
            <a:endParaRPr lang="en-US" sz="1400" kern="12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45F6563-DD2E-8483-9D95-CF277CA0D2CF}"/>
              </a:ext>
            </a:extLst>
          </p:cNvPr>
          <p:cNvSpPr/>
          <p:nvPr/>
        </p:nvSpPr>
        <p:spPr>
          <a:xfrm>
            <a:off x="4191000" y="3048000"/>
            <a:ext cx="1901952" cy="446499"/>
          </a:xfrm>
          <a:custGeom>
            <a:avLst/>
            <a:gdLst>
              <a:gd name="csX0" fmla="*/ 74431 w 1901952"/>
              <a:gd name="csY0" fmla="*/ 0 h 446499"/>
              <a:gd name="csX1" fmla="*/ 1827521 w 1901952"/>
              <a:gd name="csY1" fmla="*/ 0 h 446499"/>
              <a:gd name="csX2" fmla="*/ 1901952 w 1901952"/>
              <a:gd name="csY2" fmla="*/ 74431 h 446499"/>
              <a:gd name="csX3" fmla="*/ 1901952 w 1901952"/>
              <a:gd name="csY3" fmla="*/ 446499 h 446499"/>
              <a:gd name="csX4" fmla="*/ 1901952 w 1901952"/>
              <a:gd name="csY4" fmla="*/ 446499 h 446499"/>
              <a:gd name="csX5" fmla="*/ 0 w 1901952"/>
              <a:gd name="csY5" fmla="*/ 446499 h 446499"/>
              <a:gd name="csX6" fmla="*/ 0 w 1901952"/>
              <a:gd name="csY6" fmla="*/ 446499 h 446499"/>
              <a:gd name="csX7" fmla="*/ 0 w 1901952"/>
              <a:gd name="csY7" fmla="*/ 74431 h 446499"/>
              <a:gd name="csX8" fmla="*/ 74431 w 1901952"/>
              <a:gd name="csY8" fmla="*/ 0 h 4464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01952" h="446499">
                <a:moveTo>
                  <a:pt x="74431" y="0"/>
                </a:moveTo>
                <a:lnTo>
                  <a:pt x="1827521" y="0"/>
                </a:lnTo>
                <a:cubicBezTo>
                  <a:pt x="1868628" y="0"/>
                  <a:pt x="1901952" y="33324"/>
                  <a:pt x="1901952" y="74431"/>
                </a:cubicBezTo>
                <a:lnTo>
                  <a:pt x="1901952" y="446499"/>
                </a:lnTo>
                <a:lnTo>
                  <a:pt x="1901952" y="446499"/>
                </a:lnTo>
                <a:lnTo>
                  <a:pt x="0" y="446499"/>
                </a:lnTo>
                <a:lnTo>
                  <a:pt x="0" y="446499"/>
                </a:lnTo>
                <a:lnTo>
                  <a:pt x="0" y="74431"/>
                </a:lnTo>
                <a:cubicBezTo>
                  <a:pt x="0" y="33324"/>
                  <a:pt x="33324" y="0"/>
                  <a:pt x="74431" y="0"/>
                </a:cubicBez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710" tIns="63710" rIns="63710" bIns="41910" numCol="1" spcCol="1270" anchor="ctr" anchorCtr="0">
            <a:noAutofit/>
          </a:bodyPr>
          <a:lstStyle/>
          <a:p>
            <a:pPr marL="0" lvl="0" indent="0" algn="l" defTabSz="9779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Audience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F6F6B12-93C5-BAE1-637D-52203D70CBAF}"/>
              </a:ext>
            </a:extLst>
          </p:cNvPr>
          <p:cNvSpPr/>
          <p:nvPr/>
        </p:nvSpPr>
        <p:spPr>
          <a:xfrm>
            <a:off x="4191000" y="3646899"/>
            <a:ext cx="7315200" cy="893132"/>
          </a:xfrm>
          <a:custGeom>
            <a:avLst/>
            <a:gdLst>
              <a:gd name="csX0" fmla="*/ 0 w 7315200"/>
              <a:gd name="csY0" fmla="*/ 0 h 893132"/>
              <a:gd name="csX1" fmla="*/ 7315200 w 7315200"/>
              <a:gd name="csY1" fmla="*/ 0 h 893132"/>
              <a:gd name="csX2" fmla="*/ 7315200 w 7315200"/>
              <a:gd name="csY2" fmla="*/ 893132 h 893132"/>
              <a:gd name="csX3" fmla="*/ 0 w 7315200"/>
              <a:gd name="csY3" fmla="*/ 893132 h 893132"/>
              <a:gd name="csX4" fmla="*/ 0 w 7315200"/>
              <a:gd name="csY4" fmla="*/ 0 h 893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15200" h="893132">
                <a:moveTo>
                  <a:pt x="0" y="0"/>
                </a:moveTo>
                <a:lnTo>
                  <a:pt x="7315200" y="0"/>
                </a:lnTo>
                <a:lnTo>
                  <a:pt x="7315200" y="893132"/>
                </a:lnTo>
                <a:lnTo>
                  <a:pt x="0" y="89313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34290" rIns="34290" bIns="34290" numCol="1" spcCol="1270" anchor="t" anchorCtr="0">
            <a:noAutofit/>
          </a:bodyPr>
          <a:lstStyle/>
          <a:p>
            <a:pPr marL="114300" lvl="1" indent="-114300" algn="l" defTabSz="6223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kern="1200" noProof="0" dirty="0">
                <a:solidFill>
                  <a:schemeClr val="tx1"/>
                </a:solidFill>
              </a:rPr>
              <a:t>Anyone with the interest in data analysis and coding. </a:t>
            </a:r>
            <a:endParaRPr lang="en-US" sz="1400" kern="12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54E07E-BD36-5027-5541-21334DD2249F}"/>
              </a:ext>
            </a:extLst>
          </p:cNvPr>
          <p:cNvSpPr/>
          <p:nvPr/>
        </p:nvSpPr>
        <p:spPr>
          <a:xfrm>
            <a:off x="4191000" y="4400810"/>
            <a:ext cx="1901952" cy="446499"/>
          </a:xfrm>
          <a:custGeom>
            <a:avLst/>
            <a:gdLst>
              <a:gd name="csX0" fmla="*/ 74431 w 1901952"/>
              <a:gd name="csY0" fmla="*/ 0 h 446499"/>
              <a:gd name="csX1" fmla="*/ 1827521 w 1901952"/>
              <a:gd name="csY1" fmla="*/ 0 h 446499"/>
              <a:gd name="csX2" fmla="*/ 1901952 w 1901952"/>
              <a:gd name="csY2" fmla="*/ 74431 h 446499"/>
              <a:gd name="csX3" fmla="*/ 1901952 w 1901952"/>
              <a:gd name="csY3" fmla="*/ 446499 h 446499"/>
              <a:gd name="csX4" fmla="*/ 1901952 w 1901952"/>
              <a:gd name="csY4" fmla="*/ 446499 h 446499"/>
              <a:gd name="csX5" fmla="*/ 0 w 1901952"/>
              <a:gd name="csY5" fmla="*/ 446499 h 446499"/>
              <a:gd name="csX6" fmla="*/ 0 w 1901952"/>
              <a:gd name="csY6" fmla="*/ 446499 h 446499"/>
              <a:gd name="csX7" fmla="*/ 0 w 1901952"/>
              <a:gd name="csY7" fmla="*/ 74431 h 446499"/>
              <a:gd name="csX8" fmla="*/ 74431 w 1901952"/>
              <a:gd name="csY8" fmla="*/ 0 h 4464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01952" h="446499">
                <a:moveTo>
                  <a:pt x="74431" y="0"/>
                </a:moveTo>
                <a:lnTo>
                  <a:pt x="1827521" y="0"/>
                </a:lnTo>
                <a:cubicBezTo>
                  <a:pt x="1868628" y="0"/>
                  <a:pt x="1901952" y="33324"/>
                  <a:pt x="1901952" y="74431"/>
                </a:cubicBezTo>
                <a:lnTo>
                  <a:pt x="1901952" y="446499"/>
                </a:lnTo>
                <a:lnTo>
                  <a:pt x="1901952" y="446499"/>
                </a:lnTo>
                <a:lnTo>
                  <a:pt x="0" y="446499"/>
                </a:lnTo>
                <a:lnTo>
                  <a:pt x="0" y="446499"/>
                </a:lnTo>
                <a:lnTo>
                  <a:pt x="0" y="74431"/>
                </a:lnTo>
                <a:cubicBezTo>
                  <a:pt x="0" y="33324"/>
                  <a:pt x="33324" y="0"/>
                  <a:pt x="74431" y="0"/>
                </a:cubicBez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710" tIns="63710" rIns="63710" bIns="41910" numCol="1" spcCol="1270" anchor="ctr" anchorCtr="0">
            <a:noAutofit/>
          </a:bodyPr>
          <a:lstStyle/>
          <a:p>
            <a:pPr marL="0" lvl="0" indent="0" algn="l" defTabSz="9779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Value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798C35E-BED5-E3B5-7E99-9FD120DB0ACF}"/>
              </a:ext>
            </a:extLst>
          </p:cNvPr>
          <p:cNvSpPr/>
          <p:nvPr/>
        </p:nvSpPr>
        <p:spPr>
          <a:xfrm>
            <a:off x="4191000" y="4847309"/>
            <a:ext cx="7315200" cy="893132"/>
          </a:xfrm>
          <a:custGeom>
            <a:avLst/>
            <a:gdLst>
              <a:gd name="csX0" fmla="*/ 0 w 7315200"/>
              <a:gd name="csY0" fmla="*/ 0 h 893132"/>
              <a:gd name="csX1" fmla="*/ 7315200 w 7315200"/>
              <a:gd name="csY1" fmla="*/ 0 h 893132"/>
              <a:gd name="csX2" fmla="*/ 7315200 w 7315200"/>
              <a:gd name="csY2" fmla="*/ 893132 h 893132"/>
              <a:gd name="csX3" fmla="*/ 0 w 7315200"/>
              <a:gd name="csY3" fmla="*/ 893132 h 893132"/>
              <a:gd name="csX4" fmla="*/ 0 w 7315200"/>
              <a:gd name="csY4" fmla="*/ 0 h 893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15200" h="893132">
                <a:moveTo>
                  <a:pt x="0" y="0"/>
                </a:moveTo>
                <a:lnTo>
                  <a:pt x="7315200" y="0"/>
                </a:lnTo>
                <a:lnTo>
                  <a:pt x="7315200" y="893132"/>
                </a:lnTo>
                <a:lnTo>
                  <a:pt x="0" y="89313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34290" rIns="34290" bIns="34290" numCol="1" spcCol="1270" anchor="t" anchorCtr="0">
            <a:noAutofit/>
          </a:bodyPr>
          <a:lstStyle/>
          <a:p>
            <a:pPr marL="114300" lvl="1" indent="-114300" algn="l" defTabSz="6223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kern="1200" noProof="0" dirty="0">
                <a:solidFill>
                  <a:schemeClr val="tx1"/>
                </a:solidFill>
              </a:rPr>
              <a:t>Earn insights for the future’s data analysis sphere to have optimum compensation and satisfaction at job.</a:t>
            </a:r>
            <a:endParaRPr lang="en-US" sz="1400" kern="1200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3" grpId="0" animBg="1"/>
      <p:bldP spid="14" grpId="0"/>
      <p:bldP spid="16" grpId="0" animBg="1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681037"/>
            <a:ext cx="10571747" cy="685799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905000"/>
            <a:ext cx="3880381" cy="3962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36CBBE8-721B-3B6E-9723-A85AEAB7FC85}"/>
              </a:ext>
            </a:extLst>
          </p:cNvPr>
          <p:cNvSpPr/>
          <p:nvPr/>
        </p:nvSpPr>
        <p:spPr>
          <a:xfrm>
            <a:off x="782052" y="1600201"/>
            <a:ext cx="7218948" cy="4576762"/>
          </a:xfrm>
          <a:prstGeom prst="rect">
            <a:avLst/>
          </a:prstGeom>
          <a:noFill/>
        </p:spPr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C875CCB-5917-2160-C4FC-D17C1B1A6080}"/>
              </a:ext>
            </a:extLst>
          </p:cNvPr>
          <p:cNvSpPr/>
          <p:nvPr/>
        </p:nvSpPr>
        <p:spPr>
          <a:xfrm>
            <a:off x="3669631" y="1604223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Stack Overflow Survey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AEFD1-E5D4-06A1-CAC6-CF7ABF74B453}"/>
              </a:ext>
            </a:extLst>
          </p:cNvPr>
          <p:cNvSpPr/>
          <p:nvPr/>
        </p:nvSpPr>
        <p:spPr>
          <a:xfrm>
            <a:off x="782052" y="1604223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Source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0A4C2DC-E66D-3887-A886-6BCB2BC95DE4}"/>
              </a:ext>
            </a:extLst>
          </p:cNvPr>
          <p:cNvSpPr/>
          <p:nvPr/>
        </p:nvSpPr>
        <p:spPr>
          <a:xfrm>
            <a:off x="3669631" y="2265485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Yearly Compensation</a:t>
            </a:r>
          </a:p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Job Satisfaction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D228F29-3056-323B-333E-AA37A2CDC11C}"/>
              </a:ext>
            </a:extLst>
          </p:cNvPr>
          <p:cNvSpPr/>
          <p:nvPr/>
        </p:nvSpPr>
        <p:spPr>
          <a:xfrm>
            <a:off x="782052" y="2265485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What to measure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8469A5F-E5A8-15CF-941C-2835FC0DF234}"/>
              </a:ext>
            </a:extLst>
          </p:cNvPr>
          <p:cNvSpPr/>
          <p:nvPr/>
        </p:nvSpPr>
        <p:spPr>
          <a:xfrm>
            <a:off x="3669631" y="2926746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Relate to the popular data analysis tools and systems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654AF09-E422-6564-E860-F17697151039}"/>
              </a:ext>
            </a:extLst>
          </p:cNvPr>
          <p:cNvSpPr/>
          <p:nvPr/>
        </p:nvSpPr>
        <p:spPr>
          <a:xfrm>
            <a:off x="782052" y="2926746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How to measure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DAA1F15-D283-0329-5FF2-E84C815620FC}"/>
              </a:ext>
            </a:extLst>
          </p:cNvPr>
          <p:cNvSpPr/>
          <p:nvPr/>
        </p:nvSpPr>
        <p:spPr>
          <a:xfrm>
            <a:off x="3669631" y="3588008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Languages, databases, platforms, web frames, etc.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F67D822-E4AA-6A3F-8E2B-5E8735960E65}"/>
              </a:ext>
            </a:extLst>
          </p:cNvPr>
          <p:cNvSpPr/>
          <p:nvPr/>
        </p:nvSpPr>
        <p:spPr>
          <a:xfrm>
            <a:off x="782052" y="3588008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Products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4C538E7-07FF-9B45-F361-5D72795581CA}"/>
              </a:ext>
            </a:extLst>
          </p:cNvPr>
          <p:cNvSpPr/>
          <p:nvPr/>
        </p:nvSpPr>
        <p:spPr>
          <a:xfrm>
            <a:off x="3669631" y="4249270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185 Countries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3B2099E-1E43-787B-907A-777C1765B2CC}"/>
              </a:ext>
            </a:extLst>
          </p:cNvPr>
          <p:cNvSpPr/>
          <p:nvPr/>
        </p:nvSpPr>
        <p:spPr>
          <a:xfrm>
            <a:off x="782052" y="4249270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Locations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465CF84-3B6A-0865-4021-A91B49253F46}"/>
              </a:ext>
            </a:extLst>
          </p:cNvPr>
          <p:cNvSpPr/>
          <p:nvPr/>
        </p:nvSpPr>
        <p:spPr>
          <a:xfrm>
            <a:off x="3669631" y="4910531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 Over 65000 participation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63DFC2-0149-3254-A449-0E11BFF4C921}"/>
              </a:ext>
            </a:extLst>
          </p:cNvPr>
          <p:cNvSpPr/>
          <p:nvPr/>
        </p:nvSpPr>
        <p:spPr>
          <a:xfrm>
            <a:off x="782052" y="4910531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Volume of Data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08B1CDA-DAAE-A297-A367-1A197125D3E5}"/>
              </a:ext>
            </a:extLst>
          </p:cNvPr>
          <p:cNvSpPr/>
          <p:nvPr/>
        </p:nvSpPr>
        <p:spPr>
          <a:xfrm>
            <a:off x="3669631" y="5571793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Inconsistencies, Number Formatting, Duplicates, Missing Values, Outliers, Enrichment, Aggregation, Normalization 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3C343E-0798-B14E-C3C2-F0BE6978D9B8}"/>
              </a:ext>
            </a:extLst>
          </p:cNvPr>
          <p:cNvSpPr/>
          <p:nvPr/>
        </p:nvSpPr>
        <p:spPr>
          <a:xfrm>
            <a:off x="782052" y="5571793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Wrangling Steps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7B35-92B8-C737-3DEB-4A57887A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CC39-D393-D59D-E066-37C17FD3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98033"/>
            <a:ext cx="10571747" cy="1091735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0DDB6-5B82-F3F8-80C1-FE555825BAF5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noProof="0" dirty="0"/>
          </a:p>
        </p:txBody>
      </p:sp>
      <p:pic>
        <p:nvPicPr>
          <p:cNvPr id="6" name="Graphic 5" descr="Presentation with pie chart with solid fill">
            <a:extLst>
              <a:ext uri="{FF2B5EF4-FFF2-40B4-BE49-F238E27FC236}">
                <a16:creationId xmlns:a16="http://schemas.microsoft.com/office/drawing/2014/main" id="{1D5615A7-55B9-E0F5-0A84-57A35A57B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9511" y="1942511"/>
            <a:ext cx="2972979" cy="2972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D1E5C-FB56-616C-9776-6EF59DA07045}"/>
              </a:ext>
            </a:extLst>
          </p:cNvPr>
          <p:cNvSpPr txBox="1"/>
          <p:nvPr/>
        </p:nvSpPr>
        <p:spPr>
          <a:xfrm>
            <a:off x="2743200" y="4780993"/>
            <a:ext cx="670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https://github.com/ali-can-turan/ibm-capstone</a:t>
            </a:r>
            <a:endParaRPr lang="en-US" sz="2400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32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383051"/>
            <a:ext cx="5833456" cy="1325563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 JOB POSTINGS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186141-5DC6-EFDF-8D94-A5FD47A29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196"/>
            <a:ext cx="6400800" cy="45499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87954B-FF6D-2285-D1E1-B4F03F27117B}"/>
              </a:ext>
            </a:extLst>
          </p:cNvPr>
          <p:cNvSpPr txBox="1"/>
          <p:nvPr/>
        </p:nvSpPr>
        <p:spPr>
          <a:xfrm>
            <a:off x="7543800" y="1981200"/>
            <a:ext cx="3810000" cy="1940957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 w="19050" cap="flat">
            <a:solidFill>
              <a:srgbClr val="ED8428"/>
            </a:solidFill>
            <a:prstDash val="dash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tr-TR" dirty="0"/>
              <a:t>As </a:t>
            </a:r>
            <a:r>
              <a:rPr lang="tr-TR" dirty="0" err="1"/>
              <a:t>seen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chart</a:t>
            </a:r>
            <a:r>
              <a:rPr lang="tr-TR" dirty="0"/>
              <a:t>, «Washington DC» is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province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has </a:t>
            </a:r>
            <a:r>
              <a:rPr lang="tr-TR" b="1" dirty="0" err="1">
                <a:solidFill>
                  <a:srgbClr val="ED8428"/>
                </a:solidFill>
              </a:rPr>
              <a:t>the</a:t>
            </a:r>
            <a:r>
              <a:rPr lang="tr-TR" b="1" dirty="0">
                <a:solidFill>
                  <a:srgbClr val="ED8428"/>
                </a:solidFill>
              </a:rPr>
              <a:t> </a:t>
            </a:r>
            <a:r>
              <a:rPr lang="tr-TR" b="1" dirty="0" err="1">
                <a:solidFill>
                  <a:srgbClr val="ED8428"/>
                </a:solidFill>
              </a:rPr>
              <a:t>largest</a:t>
            </a:r>
            <a:r>
              <a:rPr lang="tr-TR" b="1" dirty="0">
                <a:solidFill>
                  <a:srgbClr val="ED8428"/>
                </a:solidFill>
              </a:rPr>
              <a:t> </a:t>
            </a:r>
            <a:r>
              <a:rPr lang="tr-TR" b="1" dirty="0" err="1">
                <a:solidFill>
                  <a:srgbClr val="ED8428"/>
                </a:solidFill>
              </a:rPr>
              <a:t>number</a:t>
            </a:r>
            <a:r>
              <a:rPr lang="tr-TR" b="1" dirty="0">
                <a:solidFill>
                  <a:srgbClr val="ED8428"/>
                </a:solidFill>
              </a:rPr>
              <a:t> of </a:t>
            </a:r>
            <a:r>
              <a:rPr lang="tr-TR" b="1" dirty="0" err="1">
                <a:solidFill>
                  <a:srgbClr val="ED8428"/>
                </a:solidFill>
              </a:rPr>
              <a:t>jobs</a:t>
            </a:r>
            <a:r>
              <a:rPr lang="tr-TR" dirty="0">
                <a:solidFill>
                  <a:srgbClr val="ED8428"/>
                </a:solidFill>
              </a:rPr>
              <a:t> </a:t>
            </a:r>
            <a:r>
              <a:rPr lang="tr-TR" dirty="0" err="1"/>
              <a:t>available</a:t>
            </a:r>
            <a:r>
              <a:rPr lang="tr-TR" dirty="0"/>
              <a:t>, </a:t>
            </a:r>
            <a:r>
              <a:rPr lang="tr-TR" dirty="0" err="1"/>
              <a:t>getting</a:t>
            </a:r>
            <a:r>
              <a:rPr lang="tr-TR" dirty="0"/>
              <a:t> </a:t>
            </a:r>
            <a:r>
              <a:rPr lang="tr-TR" dirty="0" err="1"/>
              <a:t>ahead</a:t>
            </a:r>
            <a:r>
              <a:rPr lang="tr-TR" dirty="0"/>
              <a:t> of </a:t>
            </a:r>
            <a:r>
              <a:rPr lang="tr-TR" dirty="0" err="1"/>
              <a:t>its</a:t>
            </a:r>
            <a:r>
              <a:rPr lang="tr-TR" dirty="0"/>
              <a:t> </a:t>
            </a:r>
            <a:r>
              <a:rPr lang="tr-TR" dirty="0" err="1"/>
              <a:t>nearest</a:t>
            </a:r>
            <a:r>
              <a:rPr lang="tr-TR" dirty="0"/>
              <a:t> </a:t>
            </a:r>
            <a:r>
              <a:rPr lang="tr-TR" dirty="0" err="1"/>
              <a:t>rival</a:t>
            </a:r>
            <a:r>
              <a:rPr lang="tr-TR" dirty="0"/>
              <a:t> «Detroit» </a:t>
            </a:r>
            <a:r>
              <a:rPr lang="tr-TR" dirty="0" err="1"/>
              <a:t>by</a:t>
            </a:r>
            <a:r>
              <a:rPr lang="tr-TR" dirty="0"/>
              <a:t> a </a:t>
            </a:r>
            <a:r>
              <a:rPr lang="tr-TR" dirty="0" err="1"/>
              <a:t>margin</a:t>
            </a:r>
            <a:r>
              <a:rPr lang="tr-TR" dirty="0"/>
              <a:t> of </a:t>
            </a:r>
            <a:r>
              <a:rPr lang="tr-TR" b="1" dirty="0" err="1">
                <a:solidFill>
                  <a:srgbClr val="ED8428"/>
                </a:solidFill>
              </a:rPr>
              <a:t>more</a:t>
            </a:r>
            <a:r>
              <a:rPr lang="tr-TR" b="1" dirty="0">
                <a:solidFill>
                  <a:srgbClr val="ED8428"/>
                </a:solidFill>
              </a:rPr>
              <a:t> </a:t>
            </a:r>
            <a:r>
              <a:rPr lang="tr-TR" b="1" dirty="0" err="1">
                <a:solidFill>
                  <a:srgbClr val="ED8428"/>
                </a:solidFill>
              </a:rPr>
              <a:t>than</a:t>
            </a:r>
            <a:r>
              <a:rPr lang="tr-TR" b="1" dirty="0">
                <a:solidFill>
                  <a:srgbClr val="ED8428"/>
                </a:solidFill>
              </a:rPr>
              <a:t> 35%.</a:t>
            </a:r>
            <a:endParaRPr lang="en-US" b="1" dirty="0">
              <a:solidFill>
                <a:srgbClr val="ED8428"/>
              </a:solidFill>
            </a:endParaRPr>
          </a:p>
        </p:txBody>
      </p:sp>
      <p:sp>
        <p:nvSpPr>
          <p:cNvPr id="6" name="Arrow: Bent-Up 5">
            <a:extLst>
              <a:ext uri="{FF2B5EF4-FFF2-40B4-BE49-F238E27FC236}">
                <a16:creationId xmlns:a16="http://schemas.microsoft.com/office/drawing/2014/main" id="{EBD443D2-6C74-9EF4-9EA2-969C3841C4AE}"/>
              </a:ext>
            </a:extLst>
          </p:cNvPr>
          <p:cNvSpPr/>
          <p:nvPr/>
        </p:nvSpPr>
        <p:spPr>
          <a:xfrm>
            <a:off x="7315200" y="3962400"/>
            <a:ext cx="2438400" cy="685800"/>
          </a:xfrm>
          <a:prstGeom prst="bentUpArrow">
            <a:avLst/>
          </a:prstGeom>
          <a:solidFill>
            <a:srgbClr val="ED84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536" y="383051"/>
            <a:ext cx="5708765" cy="1325563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POPULAR LANGUAGES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C67126-814F-41CA-9141-4918B5F74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687349"/>
            <a:ext cx="6400800" cy="42671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1A0B14-8453-3016-DA5C-C867F2474EB5}"/>
              </a:ext>
            </a:extLst>
          </p:cNvPr>
          <p:cNvSpPr txBox="1"/>
          <p:nvPr/>
        </p:nvSpPr>
        <p:spPr>
          <a:xfrm>
            <a:off x="685800" y="1981200"/>
            <a:ext cx="3810000" cy="163449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 w="19050" cap="flat">
            <a:solidFill>
              <a:srgbClr val="ED8428"/>
            </a:solidFill>
            <a:prstDash val="dash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tr-TR" dirty="0"/>
              <a:t>As </a:t>
            </a:r>
            <a:r>
              <a:rPr lang="tr-TR" dirty="0" err="1"/>
              <a:t>seen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chart</a:t>
            </a:r>
            <a:r>
              <a:rPr lang="tr-TR" dirty="0"/>
              <a:t>, «Swift» is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programming</a:t>
            </a:r>
            <a:r>
              <a:rPr lang="tr-TR" dirty="0"/>
              <a:t> </a:t>
            </a:r>
            <a:r>
              <a:rPr lang="tr-TR" dirty="0" err="1"/>
              <a:t>language</a:t>
            </a:r>
            <a:r>
              <a:rPr lang="tr-TR" dirty="0"/>
              <a:t> of </a:t>
            </a:r>
            <a:r>
              <a:rPr lang="tr-TR" dirty="0" err="1"/>
              <a:t>which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users</a:t>
            </a:r>
            <a:r>
              <a:rPr lang="tr-TR" dirty="0"/>
              <a:t> </a:t>
            </a:r>
            <a:r>
              <a:rPr lang="tr-TR" dirty="0" err="1"/>
              <a:t>earn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highest</a:t>
            </a:r>
            <a:r>
              <a:rPr lang="tr-TR" dirty="0"/>
              <a:t> </a:t>
            </a:r>
            <a:r>
              <a:rPr lang="tr-TR" dirty="0" err="1"/>
              <a:t>salary</a:t>
            </a:r>
            <a:r>
              <a:rPr lang="tr-TR" dirty="0"/>
              <a:t>: </a:t>
            </a:r>
            <a:r>
              <a:rPr lang="tr-TR" b="1" dirty="0">
                <a:solidFill>
                  <a:srgbClr val="ED8428"/>
                </a:solidFill>
              </a:rPr>
              <a:t>130K</a:t>
            </a:r>
            <a:r>
              <a:rPr lang="tr-TR" dirty="0"/>
              <a:t>, «Python» </a:t>
            </a:r>
            <a:r>
              <a:rPr lang="tr-TR" dirty="0" err="1"/>
              <a:t>being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second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b="1" dirty="0">
                <a:solidFill>
                  <a:srgbClr val="ED8428"/>
                </a:solidFill>
              </a:rPr>
              <a:t>115K.</a:t>
            </a:r>
            <a:endParaRPr lang="en-US" b="1" dirty="0">
              <a:solidFill>
                <a:srgbClr val="ED8428"/>
              </a:solidFill>
            </a:endParaRPr>
          </a:p>
        </p:txBody>
      </p:sp>
      <p:sp>
        <p:nvSpPr>
          <p:cNvPr id="9" name="Arrow: Bent-Up 8">
            <a:extLst>
              <a:ext uri="{FF2B5EF4-FFF2-40B4-BE49-F238E27FC236}">
                <a16:creationId xmlns:a16="http://schemas.microsoft.com/office/drawing/2014/main" id="{7E733908-1A77-DF8E-6FB0-C76533B79E6E}"/>
              </a:ext>
            </a:extLst>
          </p:cNvPr>
          <p:cNvSpPr/>
          <p:nvPr/>
        </p:nvSpPr>
        <p:spPr>
          <a:xfrm flipH="1">
            <a:off x="2362200" y="3810000"/>
            <a:ext cx="2590800" cy="838200"/>
          </a:xfrm>
          <a:prstGeom prst="bentUpArrow">
            <a:avLst/>
          </a:prstGeom>
          <a:solidFill>
            <a:srgbClr val="ED84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PROGRAMMING LANGUAGE TRENDS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A01D9C-D7BE-9404-977D-BBBC50B79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9" y="1628720"/>
            <a:ext cx="5486411" cy="3657607"/>
          </a:xfrm>
          <a:prstGeom prst="rect">
            <a:avLst/>
          </a:prstGeom>
          <a:ln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B1D9954-3241-FA24-F773-58B09AFA3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11" y="1628719"/>
            <a:ext cx="5486411" cy="3657607"/>
          </a:xfrm>
          <a:prstGeom prst="rect">
            <a:avLst/>
          </a:prstGeom>
          <a:ln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C2D4EB2-BBF5-F106-F2A1-CA5173F2DF76}"/>
              </a:ext>
            </a:extLst>
          </p:cNvPr>
          <p:cNvSpPr txBox="1"/>
          <p:nvPr/>
        </p:nvSpPr>
        <p:spPr>
          <a:xfrm>
            <a:off x="1066812" y="5229280"/>
            <a:ext cx="10744210" cy="1026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/>
              <a:t>Top 5 in </a:t>
            </a:r>
            <a:r>
              <a:rPr lang="tr-TR" sz="1400" dirty="0" err="1"/>
              <a:t>either</a:t>
            </a:r>
            <a:r>
              <a:rPr lang="tr-TR" sz="1400" dirty="0"/>
              <a:t> </a:t>
            </a:r>
            <a:r>
              <a:rPr lang="tr-TR" sz="1400" dirty="0" err="1"/>
              <a:t>graph</a:t>
            </a:r>
            <a:r>
              <a:rPr lang="tr-TR" sz="1400" dirty="0"/>
              <a:t> </a:t>
            </a:r>
            <a:r>
              <a:rPr lang="tr-TR" sz="1400" dirty="0" err="1"/>
              <a:t>are</a:t>
            </a:r>
            <a:r>
              <a:rPr lang="tr-TR" sz="1400" dirty="0"/>
              <a:t> </a:t>
            </a:r>
            <a:r>
              <a:rPr lang="tr-TR" sz="1400" dirty="0" err="1"/>
              <a:t>comprised</a:t>
            </a:r>
            <a:r>
              <a:rPr lang="tr-TR" sz="1400" dirty="0"/>
              <a:t> of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same</a:t>
            </a:r>
            <a:r>
              <a:rPr lang="tr-TR" sz="1400" dirty="0"/>
              <a:t> </a:t>
            </a:r>
            <a:r>
              <a:rPr lang="tr-TR" sz="1400" dirty="0" err="1"/>
              <a:t>languages</a:t>
            </a:r>
            <a:r>
              <a:rPr lang="tr-TR" sz="1400" dirty="0"/>
              <a:t>. </a:t>
            </a:r>
            <a:r>
              <a:rPr lang="tr-TR" sz="1400" dirty="0" err="1"/>
              <a:t>However</a:t>
            </a:r>
            <a:r>
              <a:rPr lang="tr-TR" sz="1400" dirty="0"/>
              <a:t>, </a:t>
            </a:r>
            <a:r>
              <a:rPr lang="tr-TR" sz="1400" b="1" dirty="0">
                <a:solidFill>
                  <a:srgbClr val="ED8428"/>
                </a:solidFill>
              </a:rPr>
              <a:t>HTML/CSS </a:t>
            </a:r>
            <a:r>
              <a:rPr lang="tr-TR" sz="1400" dirty="0" err="1"/>
              <a:t>seems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be </a:t>
            </a:r>
            <a:r>
              <a:rPr lang="tr-TR" sz="1400" dirty="0" err="1"/>
              <a:t>going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</a:t>
            </a:r>
            <a:r>
              <a:rPr lang="tr-TR" sz="1400" dirty="0" err="1"/>
              <a:t>lose</a:t>
            </a:r>
            <a:r>
              <a:rPr lang="tr-TR" sz="1400" dirty="0"/>
              <a:t> </a:t>
            </a:r>
            <a:r>
              <a:rPr lang="tr-TR" sz="1400" dirty="0" err="1"/>
              <a:t>ground</a:t>
            </a:r>
            <a:r>
              <a:rPr lang="tr-TR" sz="1400" dirty="0"/>
              <a:t> </a:t>
            </a:r>
            <a:r>
              <a:rPr lang="tr-TR" sz="1400" dirty="0" err="1"/>
              <a:t>next</a:t>
            </a:r>
            <a:r>
              <a:rPr lang="tr-TR" sz="1400" dirty="0"/>
              <a:t> </a:t>
            </a:r>
            <a:r>
              <a:rPr lang="tr-TR" sz="1400" dirty="0" err="1"/>
              <a:t>year</a:t>
            </a:r>
            <a:r>
              <a:rPr lang="tr-TR" sz="14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 err="1"/>
              <a:t>Next</a:t>
            </a:r>
            <a:r>
              <a:rPr lang="tr-TR" sz="1400" dirty="0"/>
              <a:t> </a:t>
            </a:r>
            <a:r>
              <a:rPr lang="tr-TR" sz="1400" dirty="0" err="1"/>
              <a:t>year</a:t>
            </a:r>
            <a:r>
              <a:rPr lang="tr-TR" sz="1400" dirty="0"/>
              <a:t>, it </a:t>
            </a:r>
            <a:r>
              <a:rPr lang="tr-TR" sz="1400" dirty="0" err="1"/>
              <a:t>seems</a:t>
            </a:r>
            <a:r>
              <a:rPr lang="tr-TR" sz="1400" dirty="0"/>
              <a:t> </a:t>
            </a:r>
            <a:r>
              <a:rPr lang="tr-TR" sz="1400" dirty="0" err="1"/>
              <a:t>that</a:t>
            </a:r>
            <a:r>
              <a:rPr lang="tr-TR" sz="1400" dirty="0"/>
              <a:t> </a:t>
            </a:r>
            <a:r>
              <a:rPr lang="tr-TR" sz="1400" b="1" dirty="0">
                <a:solidFill>
                  <a:srgbClr val="ED8428"/>
                </a:solidFill>
              </a:rPr>
              <a:t>C# </a:t>
            </a:r>
            <a:r>
              <a:rPr lang="tr-TR" sz="1400" b="1" dirty="0" err="1">
                <a:solidFill>
                  <a:srgbClr val="ED8428"/>
                </a:solidFill>
              </a:rPr>
              <a:t>and</a:t>
            </a:r>
            <a:r>
              <a:rPr lang="tr-TR" sz="1400" b="1" dirty="0">
                <a:solidFill>
                  <a:srgbClr val="ED8428"/>
                </a:solidFill>
              </a:rPr>
              <a:t> C++ </a:t>
            </a:r>
            <a:r>
              <a:rPr lang="tr-TR" sz="1400" dirty="0" err="1"/>
              <a:t>will</a:t>
            </a:r>
            <a:r>
              <a:rPr lang="tr-TR" sz="1400" dirty="0"/>
              <a:t> </a:t>
            </a:r>
            <a:r>
              <a:rPr lang="tr-TR" sz="1400" dirty="0" err="1"/>
              <a:t>drop</a:t>
            </a:r>
            <a:r>
              <a:rPr lang="tr-TR" sz="1400" dirty="0"/>
              <a:t> </a:t>
            </a:r>
            <a:r>
              <a:rPr lang="tr-TR" sz="1400" dirty="0" err="1"/>
              <a:t>from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top 10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that</a:t>
            </a:r>
            <a:r>
              <a:rPr lang="tr-TR" sz="1400" dirty="0"/>
              <a:t> </a:t>
            </a:r>
            <a:r>
              <a:rPr lang="tr-TR" sz="1400" b="1" dirty="0" err="1">
                <a:solidFill>
                  <a:srgbClr val="ED8428"/>
                </a:solidFill>
              </a:rPr>
              <a:t>Go</a:t>
            </a:r>
            <a:r>
              <a:rPr lang="tr-TR" sz="1400" b="1" dirty="0">
                <a:solidFill>
                  <a:srgbClr val="ED8428"/>
                </a:solidFill>
              </a:rPr>
              <a:t> </a:t>
            </a:r>
            <a:r>
              <a:rPr lang="tr-TR" sz="1400" b="1" dirty="0" err="1">
                <a:solidFill>
                  <a:srgbClr val="ED8428"/>
                </a:solidFill>
              </a:rPr>
              <a:t>and</a:t>
            </a:r>
            <a:r>
              <a:rPr lang="tr-TR" sz="1400" b="1" dirty="0">
                <a:solidFill>
                  <a:srgbClr val="ED8428"/>
                </a:solidFill>
              </a:rPr>
              <a:t> </a:t>
            </a:r>
            <a:r>
              <a:rPr lang="tr-TR" sz="1400" b="1" dirty="0" err="1">
                <a:solidFill>
                  <a:srgbClr val="ED8428"/>
                </a:solidFill>
              </a:rPr>
              <a:t>Rust</a:t>
            </a:r>
            <a:r>
              <a:rPr lang="tr-TR" sz="1400" b="1" dirty="0">
                <a:solidFill>
                  <a:srgbClr val="ED8428"/>
                </a:solidFill>
              </a:rPr>
              <a:t> </a:t>
            </a:r>
            <a:r>
              <a:rPr lang="tr-TR" sz="1400" dirty="0" err="1"/>
              <a:t>will</a:t>
            </a:r>
            <a:r>
              <a:rPr lang="tr-TR" sz="1400" dirty="0"/>
              <a:t> </a:t>
            </a:r>
            <a:r>
              <a:rPr lang="tr-TR" sz="1400" dirty="0" err="1"/>
              <a:t>get</a:t>
            </a:r>
            <a:r>
              <a:rPr lang="tr-TR" sz="1400" dirty="0"/>
              <a:t> in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list</a:t>
            </a:r>
            <a:r>
              <a:rPr lang="tr-TR" sz="1400" dirty="0"/>
              <a:t> </a:t>
            </a:r>
            <a:r>
              <a:rPr lang="tr-TR" sz="1400" dirty="0" err="1"/>
              <a:t>from</a:t>
            </a:r>
            <a:r>
              <a:rPr lang="tr-TR" sz="1400" dirty="0"/>
              <a:t> a </a:t>
            </a:r>
            <a:r>
              <a:rPr lang="tr-TR" sz="1400" dirty="0" err="1"/>
              <a:t>high</a:t>
            </a:r>
            <a:r>
              <a:rPr lang="tr-TR" sz="1400" dirty="0"/>
              <a:t> </a:t>
            </a:r>
            <a:r>
              <a:rPr lang="tr-TR" sz="1400" dirty="0" err="1"/>
              <a:t>ground</a:t>
            </a:r>
            <a:r>
              <a:rPr lang="tr-TR" sz="1400" dirty="0"/>
              <a:t> </a:t>
            </a:r>
            <a:r>
              <a:rPr lang="tr-TR" sz="1400" dirty="0" err="1"/>
              <a:t>overtaking</a:t>
            </a:r>
            <a:r>
              <a:rPr lang="tr-TR" sz="1400" dirty="0"/>
              <a:t> </a:t>
            </a:r>
            <a:r>
              <a:rPr lang="tr-TR" sz="1400" b="1" dirty="0" err="1">
                <a:solidFill>
                  <a:srgbClr val="ED8428"/>
                </a:solidFill>
              </a:rPr>
              <a:t>PHP</a:t>
            </a:r>
            <a:r>
              <a:rPr lang="tr-TR" sz="1400" b="1" dirty="0">
                <a:solidFill>
                  <a:srgbClr val="ED8428"/>
                </a:solidFill>
              </a:rPr>
              <a:t>, Java </a:t>
            </a:r>
            <a:r>
              <a:rPr lang="tr-TR" sz="1400" b="1" dirty="0" err="1">
                <a:solidFill>
                  <a:srgbClr val="ED8428"/>
                </a:solidFill>
              </a:rPr>
              <a:t>and</a:t>
            </a:r>
            <a:r>
              <a:rPr lang="tr-TR" sz="1400" b="1" dirty="0">
                <a:solidFill>
                  <a:srgbClr val="ED8428"/>
                </a:solidFill>
              </a:rPr>
              <a:t> Shell </a:t>
            </a:r>
            <a:r>
              <a:rPr lang="tr-TR" sz="1400" b="1" dirty="0" err="1">
                <a:solidFill>
                  <a:srgbClr val="ED8428"/>
                </a:solidFill>
              </a:rPr>
              <a:t>languages</a:t>
            </a:r>
            <a:r>
              <a:rPr lang="tr-TR" sz="1400" b="1" dirty="0">
                <a:solidFill>
                  <a:srgbClr val="ED8428"/>
                </a:solidFill>
              </a:rPr>
              <a:t>.</a:t>
            </a:r>
            <a:endParaRPr lang="en-US" sz="1400" b="1" dirty="0">
              <a:solidFill>
                <a:srgbClr val="ED8428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65" y="218209"/>
            <a:ext cx="11471562" cy="1330037"/>
          </a:xfrm>
        </p:spPr>
        <p:txBody>
          <a:bodyPr>
            <a:noAutofit/>
          </a:bodyPr>
          <a:lstStyle/>
          <a:p>
            <a:r>
              <a:rPr lang="en-US" noProof="0" dirty="0"/>
              <a:t>PROGRAMMING LANGUAGE TRENDS - FINDINGS &amp; IMPLICATIONS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D78740-92F0-CCBA-A03B-ED90D4ABF734}"/>
              </a:ext>
            </a:extLst>
          </p:cNvPr>
          <p:cNvGrpSpPr/>
          <p:nvPr/>
        </p:nvGrpSpPr>
        <p:grpSpPr>
          <a:xfrm>
            <a:off x="624840" y="1610441"/>
            <a:ext cx="3794760" cy="4331458"/>
            <a:chOff x="762000" y="1610441"/>
            <a:chExt cx="3930052" cy="3103717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DABA144-A732-06B9-A805-1F18DBA1FB18}"/>
                </a:ext>
              </a:extLst>
            </p:cNvPr>
            <p:cNvSpPr/>
            <p:nvPr/>
          </p:nvSpPr>
          <p:spPr>
            <a:xfrm>
              <a:off x="762000" y="1610441"/>
              <a:ext cx="3930052" cy="845673"/>
            </a:xfrm>
            <a:custGeom>
              <a:avLst/>
              <a:gdLst>
                <a:gd name="csX0" fmla="*/ 0 w 5181600"/>
                <a:gd name="csY0" fmla="*/ 0 h 1123200"/>
                <a:gd name="csX1" fmla="*/ 5181600 w 5181600"/>
                <a:gd name="csY1" fmla="*/ 0 h 1123200"/>
                <a:gd name="csX2" fmla="*/ 5181600 w 5181600"/>
                <a:gd name="csY2" fmla="*/ 1123200 h 1123200"/>
                <a:gd name="csX3" fmla="*/ 0 w 5181600"/>
                <a:gd name="csY3" fmla="*/ 1123200 h 1123200"/>
                <a:gd name="csX4" fmla="*/ 0 w 5181600"/>
                <a:gd name="csY4" fmla="*/ 0 h 1123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123200">
                  <a:moveTo>
                    <a:pt x="0" y="0"/>
                  </a:moveTo>
                  <a:lnTo>
                    <a:pt x="5181600" y="0"/>
                  </a:lnTo>
                  <a:lnTo>
                    <a:pt x="5181600" y="1123200"/>
                  </a:lnTo>
                  <a:lnTo>
                    <a:pt x="0" y="112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8428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lvl="0" indent="0" defTabSz="11112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/>
                <a:t>Findings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3532141-9FB1-376A-6DB0-C548A110239D}"/>
                </a:ext>
              </a:extLst>
            </p:cNvPr>
            <p:cNvSpPr/>
            <p:nvPr/>
          </p:nvSpPr>
          <p:spPr>
            <a:xfrm>
              <a:off x="762000" y="2456114"/>
              <a:ext cx="3930052" cy="2258044"/>
            </a:xfrm>
            <a:custGeom>
              <a:avLst/>
              <a:gdLst>
                <a:gd name="csX0" fmla="*/ 0 w 5181600"/>
                <a:gd name="csY0" fmla="*/ 0 h 1980517"/>
                <a:gd name="csX1" fmla="*/ 5181600 w 5181600"/>
                <a:gd name="csY1" fmla="*/ 0 h 1980517"/>
                <a:gd name="csX2" fmla="*/ 5181600 w 5181600"/>
                <a:gd name="csY2" fmla="*/ 1980517 h 1980517"/>
                <a:gd name="csX3" fmla="*/ 0 w 5181600"/>
                <a:gd name="csY3" fmla="*/ 1980517 h 1980517"/>
                <a:gd name="csX4" fmla="*/ 0 w 5181600"/>
                <a:gd name="csY4" fmla="*/ 0 h 19805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980517">
                  <a:moveTo>
                    <a:pt x="0" y="0"/>
                  </a:moveTo>
                  <a:lnTo>
                    <a:pt x="5181600" y="0"/>
                  </a:lnTo>
                  <a:lnTo>
                    <a:pt x="5181600" y="1980517"/>
                  </a:lnTo>
                  <a:lnTo>
                    <a:pt x="0" y="198051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42240" bIns="160020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u="sng" kern="1200" dirty="0"/>
                <a:t>JavaScript</a:t>
              </a:r>
              <a:r>
                <a:rPr lang="tr-TR" kern="1200" dirty="0"/>
                <a:t> is </a:t>
              </a:r>
              <a:r>
                <a:rPr lang="tr-TR" kern="1200" dirty="0" err="1"/>
                <a:t>the</a:t>
              </a:r>
              <a:r>
                <a:rPr lang="tr-TR" kern="1200" dirty="0"/>
                <a:t> market </a:t>
              </a:r>
              <a:r>
                <a:rPr lang="tr-TR" kern="1200" dirty="0" err="1"/>
                <a:t>leader</a:t>
              </a:r>
              <a:r>
                <a:rPr lang="tr-TR" kern="1200" dirty="0"/>
                <a:t>.</a:t>
              </a:r>
              <a:endParaRPr lang="en-US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u="sng" kern="1200" dirty="0"/>
                <a:t>SQL</a:t>
              </a:r>
              <a:r>
                <a:rPr lang="tr-TR" kern="1200" dirty="0"/>
                <a:t> is </a:t>
              </a:r>
              <a:r>
                <a:rPr lang="tr-TR" kern="1200" dirty="0" err="1"/>
                <a:t>the</a:t>
              </a:r>
              <a:r>
                <a:rPr lang="tr-TR" kern="1200" dirty="0"/>
                <a:t> </a:t>
              </a:r>
              <a:r>
                <a:rPr lang="tr-TR" kern="1200" dirty="0" err="1"/>
                <a:t>second</a:t>
              </a:r>
              <a:r>
                <a:rPr lang="tr-TR" kern="1200" dirty="0"/>
                <a:t>.</a:t>
              </a:r>
              <a:endParaRPr lang="en-US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u="sng" kern="1200" dirty="0" err="1"/>
                <a:t>TypeScript</a:t>
              </a:r>
              <a:r>
                <a:rPr lang="tr-TR" kern="1200" dirty="0"/>
                <a:t> is </a:t>
              </a:r>
              <a:r>
                <a:rPr lang="tr-TR" kern="1200" dirty="0" err="1"/>
                <a:t>gaining</a:t>
              </a:r>
              <a:r>
                <a:rPr lang="tr-TR" kern="1200" dirty="0"/>
                <a:t> </a:t>
              </a:r>
              <a:r>
                <a:rPr lang="tr-TR" kern="1200" dirty="0" err="1"/>
                <a:t>ground</a:t>
              </a:r>
              <a:r>
                <a:rPr lang="tr-TR" kern="1200" dirty="0"/>
                <a:t>.</a:t>
              </a:r>
              <a:endParaRPr lang="en-US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u="sng" kern="1200" dirty="0"/>
                <a:t>Python</a:t>
              </a:r>
              <a:r>
                <a:rPr lang="tr-TR" kern="1200" dirty="0"/>
                <a:t> is at </a:t>
              </a:r>
              <a:r>
                <a:rPr lang="tr-TR" kern="1200" dirty="0" err="1"/>
                <a:t>the</a:t>
              </a:r>
              <a:r>
                <a:rPr lang="tr-TR" kern="1200" dirty="0"/>
                <a:t> </a:t>
              </a:r>
              <a:r>
                <a:rPr lang="tr-TR" kern="1200" dirty="0" err="1"/>
                <a:t>first</a:t>
              </a:r>
              <a:r>
                <a:rPr lang="tr-TR" kern="1200" dirty="0"/>
                <a:t> 5.</a:t>
              </a:r>
              <a:endParaRPr lang="en-US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u="sng" kern="1200" dirty="0" err="1"/>
                <a:t>Go</a:t>
              </a:r>
              <a:r>
                <a:rPr lang="tr-TR" u="sng" kern="1200" dirty="0"/>
                <a:t> </a:t>
              </a:r>
              <a:r>
                <a:rPr lang="tr-TR" u="sng" kern="1200" dirty="0" err="1"/>
                <a:t>and</a:t>
              </a:r>
              <a:r>
                <a:rPr lang="tr-TR" u="sng" kern="1200" dirty="0"/>
                <a:t> </a:t>
              </a:r>
              <a:r>
                <a:rPr lang="tr-TR" u="sng" kern="1200" dirty="0" err="1"/>
                <a:t>Rust</a:t>
              </a:r>
              <a:r>
                <a:rPr lang="tr-TR" u="sng" kern="1200" dirty="0"/>
                <a:t> </a:t>
              </a:r>
              <a:r>
                <a:rPr lang="tr-TR" kern="1200" dirty="0" err="1"/>
                <a:t>are</a:t>
              </a:r>
              <a:r>
                <a:rPr lang="tr-TR" kern="1200" dirty="0"/>
                <a:t> </a:t>
              </a:r>
              <a:r>
                <a:rPr lang="tr-TR" kern="1200" dirty="0" err="1"/>
                <a:t>fast-moving</a:t>
              </a:r>
              <a:r>
                <a:rPr lang="tr-TR" kern="1200" dirty="0"/>
                <a:t>.</a:t>
              </a:r>
              <a:endParaRPr lang="en-US" kern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224AB32-D1E5-0FF4-7781-86F605F31861}"/>
              </a:ext>
            </a:extLst>
          </p:cNvPr>
          <p:cNvGrpSpPr/>
          <p:nvPr/>
        </p:nvGrpSpPr>
        <p:grpSpPr>
          <a:xfrm>
            <a:off x="4572000" y="1609838"/>
            <a:ext cx="7010401" cy="4332061"/>
            <a:chOff x="6120384" y="1609838"/>
            <a:chExt cx="5181600" cy="433206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8ADC8DA-8B35-08ED-B26D-1268D1AB33EE}"/>
                </a:ext>
              </a:extLst>
            </p:cNvPr>
            <p:cNvSpPr/>
            <p:nvPr/>
          </p:nvSpPr>
          <p:spPr>
            <a:xfrm>
              <a:off x="6120384" y="1609838"/>
              <a:ext cx="5181600" cy="1180800"/>
            </a:xfrm>
            <a:custGeom>
              <a:avLst/>
              <a:gdLst>
                <a:gd name="csX0" fmla="*/ 0 w 5181600"/>
                <a:gd name="csY0" fmla="*/ 0 h 1180800"/>
                <a:gd name="csX1" fmla="*/ 5181600 w 5181600"/>
                <a:gd name="csY1" fmla="*/ 0 h 1180800"/>
                <a:gd name="csX2" fmla="*/ 5181600 w 5181600"/>
                <a:gd name="csY2" fmla="*/ 1180800 h 1180800"/>
                <a:gd name="csX3" fmla="*/ 0 w 5181600"/>
                <a:gd name="csY3" fmla="*/ 1180800 h 1180800"/>
                <a:gd name="csX4" fmla="*/ 0 w 5181600"/>
                <a:gd name="csY4" fmla="*/ 0 h 118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180800">
                  <a:moveTo>
                    <a:pt x="0" y="0"/>
                  </a:moveTo>
                  <a:lnTo>
                    <a:pt x="5181600" y="0"/>
                  </a:lnTo>
                  <a:lnTo>
                    <a:pt x="5181600" y="1180800"/>
                  </a:lnTo>
                  <a:lnTo>
                    <a:pt x="0" y="118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8428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lvl="0" indent="0" defTabSz="11112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/>
                <a:t>Implications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C8AB315-16DD-1E7B-8502-186B95213718}"/>
                </a:ext>
              </a:extLst>
            </p:cNvPr>
            <p:cNvSpPr/>
            <p:nvPr/>
          </p:nvSpPr>
          <p:spPr>
            <a:xfrm>
              <a:off x="6120384" y="2790639"/>
              <a:ext cx="5181600" cy="3151260"/>
            </a:xfrm>
            <a:custGeom>
              <a:avLst/>
              <a:gdLst>
                <a:gd name="csX0" fmla="*/ 0 w 5181600"/>
                <a:gd name="csY0" fmla="*/ 0 h 3151260"/>
                <a:gd name="csX1" fmla="*/ 5181600 w 5181600"/>
                <a:gd name="csY1" fmla="*/ 0 h 3151260"/>
                <a:gd name="csX2" fmla="*/ 5181600 w 5181600"/>
                <a:gd name="csY2" fmla="*/ 3151260 h 3151260"/>
                <a:gd name="csX3" fmla="*/ 0 w 5181600"/>
                <a:gd name="csY3" fmla="*/ 3151260 h 3151260"/>
                <a:gd name="csX4" fmla="*/ 0 w 5181600"/>
                <a:gd name="csY4" fmla="*/ 0 h 31512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3151260">
                  <a:moveTo>
                    <a:pt x="0" y="0"/>
                  </a:moveTo>
                  <a:lnTo>
                    <a:pt x="5181600" y="0"/>
                  </a:lnTo>
                  <a:lnTo>
                    <a:pt x="5181600" y="3151260"/>
                  </a:lnTo>
                  <a:lnTo>
                    <a:pt x="0" y="315126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42240" bIns="160020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Web page/app developers are dominant, at least, in the survey.</a:t>
              </a:r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No rival in the realm of database manipulation.</a:t>
              </a:r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kern="1200" dirty="0" err="1"/>
                <a:t>More</a:t>
              </a:r>
              <a:r>
                <a:rPr lang="tr-TR" kern="1200" dirty="0"/>
                <a:t> </a:t>
              </a:r>
              <a:r>
                <a:rPr lang="tr-TR" kern="1200" dirty="0" err="1"/>
                <a:t>significance</a:t>
              </a:r>
              <a:r>
                <a:rPr lang="tr-TR" kern="1200" dirty="0"/>
                <a:t> on </a:t>
              </a:r>
              <a:r>
                <a:rPr lang="tr-TR" kern="1200" dirty="0" err="1"/>
                <a:t>type</a:t>
              </a:r>
              <a:r>
                <a:rPr lang="tr-TR" dirty="0"/>
                <a:t>, </a:t>
              </a:r>
              <a:r>
                <a:rPr lang="tr-TR" dirty="0" err="1"/>
                <a:t>compared</a:t>
              </a:r>
              <a:r>
                <a:rPr lang="tr-TR" dirty="0"/>
                <a:t> </a:t>
              </a:r>
              <a:r>
                <a:rPr lang="tr-TR" dirty="0" err="1"/>
                <a:t>to</a:t>
              </a:r>
              <a:r>
                <a:rPr lang="tr-TR" dirty="0"/>
                <a:t> </a:t>
              </a:r>
              <a:r>
                <a:rPr lang="tr-TR" dirty="0" err="1"/>
                <a:t>loosely-typed</a:t>
              </a:r>
              <a:r>
                <a:rPr lang="tr-TR" dirty="0"/>
                <a:t> </a:t>
              </a:r>
              <a:r>
                <a:rPr lang="tr-TR" dirty="0" err="1"/>
                <a:t>JS</a:t>
              </a:r>
              <a:r>
                <a:rPr lang="tr-TR" dirty="0"/>
                <a:t>.</a:t>
              </a:r>
              <a:endParaRPr lang="en-US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Seems not to get outdated in the near future.</a:t>
              </a:r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Will see new breakthroughs from these languages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noProof="0" dirty="0"/>
              <a:t>DATABASE TRENDS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3EA6A8-AE41-035F-8E92-CB57A31A1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193"/>
            <a:ext cx="5486411" cy="36576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E8EB22-D0BF-BA04-AF1E-42387B962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00193"/>
            <a:ext cx="5486411" cy="365760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393E7E7-4F6C-7D85-0894-006B2DCF9D5C}"/>
              </a:ext>
            </a:extLst>
          </p:cNvPr>
          <p:cNvSpPr txBox="1"/>
          <p:nvPr/>
        </p:nvSpPr>
        <p:spPr>
          <a:xfrm>
            <a:off x="1066812" y="5229280"/>
            <a:ext cx="10744210" cy="70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 err="1"/>
              <a:t>There</a:t>
            </a:r>
            <a:r>
              <a:rPr lang="tr-TR" sz="1400" dirty="0"/>
              <a:t> </a:t>
            </a:r>
            <a:r>
              <a:rPr lang="tr-TR" sz="1400" dirty="0" err="1"/>
              <a:t>seems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be </a:t>
            </a:r>
            <a:r>
              <a:rPr lang="tr-TR" sz="1400" dirty="0" err="1"/>
              <a:t>no</a:t>
            </a:r>
            <a:r>
              <a:rPr lang="tr-TR" sz="1400" dirty="0"/>
              <a:t> </a:t>
            </a:r>
            <a:r>
              <a:rPr lang="tr-TR" sz="1400" dirty="0" err="1"/>
              <a:t>difference</a:t>
            </a:r>
            <a:r>
              <a:rPr lang="tr-TR" sz="1400" dirty="0"/>
              <a:t> in </a:t>
            </a:r>
            <a:r>
              <a:rPr lang="tr-TR" sz="1400" dirty="0" err="1"/>
              <a:t>database</a:t>
            </a:r>
            <a:r>
              <a:rPr lang="tr-TR" sz="1400" dirty="0"/>
              <a:t> </a:t>
            </a:r>
            <a:r>
              <a:rPr lang="tr-TR" sz="1400" dirty="0" err="1"/>
              <a:t>popularity</a:t>
            </a:r>
            <a:r>
              <a:rPr lang="tr-TR" sz="1400" dirty="0"/>
              <a:t> in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near</a:t>
            </a:r>
            <a:r>
              <a:rPr lang="tr-TR" sz="1400" dirty="0"/>
              <a:t> </a:t>
            </a:r>
            <a:r>
              <a:rPr lang="tr-TR" sz="1400" dirty="0" err="1"/>
              <a:t>future</a:t>
            </a:r>
            <a:r>
              <a:rPr lang="tr-TR" sz="1400" dirty="0"/>
              <a:t> </a:t>
            </a:r>
            <a:r>
              <a:rPr lang="tr-TR" sz="1400" dirty="0" err="1"/>
              <a:t>for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top 3: </a:t>
            </a:r>
            <a:r>
              <a:rPr lang="tr-TR" sz="1400" b="1" dirty="0" err="1"/>
              <a:t>PostgreSQL</a:t>
            </a:r>
            <a:r>
              <a:rPr lang="tr-TR" sz="1400" b="1" dirty="0"/>
              <a:t>, MySQL, </a:t>
            </a:r>
            <a:r>
              <a:rPr lang="tr-TR" sz="1400" b="1" dirty="0" err="1"/>
              <a:t>SQLite</a:t>
            </a:r>
            <a:r>
              <a:rPr lang="tr-TR" sz="1400" b="1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/>
              <a:t>On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other</a:t>
            </a:r>
            <a:r>
              <a:rPr lang="tr-TR" sz="1400" dirty="0"/>
              <a:t> </a:t>
            </a:r>
            <a:r>
              <a:rPr lang="tr-TR" sz="1400" dirty="0" err="1"/>
              <a:t>hand</a:t>
            </a:r>
            <a:r>
              <a:rPr lang="tr-TR" sz="1400" dirty="0"/>
              <a:t>, </a:t>
            </a:r>
            <a:r>
              <a:rPr lang="tr-TR" sz="1400" dirty="0" err="1"/>
              <a:t>slight</a:t>
            </a:r>
            <a:r>
              <a:rPr lang="tr-TR" sz="1400" dirty="0"/>
              <a:t> </a:t>
            </a:r>
            <a:r>
              <a:rPr lang="tr-TR" sz="1400" dirty="0" err="1"/>
              <a:t>attack</a:t>
            </a:r>
            <a:r>
              <a:rPr lang="tr-TR" sz="1400" dirty="0"/>
              <a:t> in </a:t>
            </a:r>
            <a:r>
              <a:rPr lang="tr-TR" sz="1400" b="1" dirty="0" err="1"/>
              <a:t>Redis</a:t>
            </a:r>
            <a:r>
              <a:rPr lang="tr-TR" sz="1400" b="1" dirty="0"/>
              <a:t> </a:t>
            </a:r>
            <a:r>
              <a:rPr lang="tr-TR" sz="1400" b="1" dirty="0" err="1"/>
              <a:t>and</a:t>
            </a:r>
            <a:r>
              <a:rPr lang="tr-TR" sz="1400" b="1" dirty="0"/>
              <a:t> Maria DB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moderate</a:t>
            </a:r>
            <a:r>
              <a:rPr lang="tr-TR" sz="1400" dirty="0"/>
              <a:t> </a:t>
            </a:r>
            <a:r>
              <a:rPr lang="tr-TR" sz="1400" dirty="0" err="1"/>
              <a:t>gain</a:t>
            </a:r>
            <a:r>
              <a:rPr lang="tr-TR" sz="1400" dirty="0"/>
              <a:t> in </a:t>
            </a:r>
            <a:r>
              <a:rPr lang="tr-TR" sz="1400" b="1" dirty="0" err="1"/>
              <a:t>Elasticsearch</a:t>
            </a:r>
            <a:r>
              <a:rPr lang="tr-TR" sz="1400" dirty="0"/>
              <a:t> is </a:t>
            </a:r>
            <a:r>
              <a:rPr lang="tr-TR" sz="1400" dirty="0" err="1"/>
              <a:t>visible</a:t>
            </a:r>
            <a:r>
              <a:rPr lang="tr-TR" sz="1400" dirty="0"/>
              <a:t>.</a:t>
            </a:r>
            <a:endParaRPr lang="en-US" sz="1400" b="1" dirty="0">
              <a:solidFill>
                <a:srgbClr val="ED8428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572944"/>
            <a:ext cx="11457214" cy="975302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DATABASE TRENDS - FINDINGS &amp; IMPLICATIONS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B6392CD-7A03-837C-4351-BC8051271623}"/>
              </a:ext>
            </a:extLst>
          </p:cNvPr>
          <p:cNvGrpSpPr/>
          <p:nvPr/>
        </p:nvGrpSpPr>
        <p:grpSpPr>
          <a:xfrm>
            <a:off x="624840" y="1610441"/>
            <a:ext cx="3794760" cy="3266361"/>
            <a:chOff x="762000" y="1610441"/>
            <a:chExt cx="3930052" cy="2340519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CE6ACB4-30AB-167E-27D2-618F0B7AE604}"/>
                </a:ext>
              </a:extLst>
            </p:cNvPr>
            <p:cNvSpPr/>
            <p:nvPr/>
          </p:nvSpPr>
          <p:spPr>
            <a:xfrm>
              <a:off x="762000" y="1610441"/>
              <a:ext cx="3930052" cy="845673"/>
            </a:xfrm>
            <a:custGeom>
              <a:avLst/>
              <a:gdLst>
                <a:gd name="csX0" fmla="*/ 0 w 5181600"/>
                <a:gd name="csY0" fmla="*/ 0 h 1123200"/>
                <a:gd name="csX1" fmla="*/ 5181600 w 5181600"/>
                <a:gd name="csY1" fmla="*/ 0 h 1123200"/>
                <a:gd name="csX2" fmla="*/ 5181600 w 5181600"/>
                <a:gd name="csY2" fmla="*/ 1123200 h 1123200"/>
                <a:gd name="csX3" fmla="*/ 0 w 5181600"/>
                <a:gd name="csY3" fmla="*/ 1123200 h 1123200"/>
                <a:gd name="csX4" fmla="*/ 0 w 5181600"/>
                <a:gd name="csY4" fmla="*/ 0 h 1123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123200">
                  <a:moveTo>
                    <a:pt x="0" y="0"/>
                  </a:moveTo>
                  <a:lnTo>
                    <a:pt x="5181600" y="0"/>
                  </a:lnTo>
                  <a:lnTo>
                    <a:pt x="5181600" y="1123200"/>
                  </a:lnTo>
                  <a:lnTo>
                    <a:pt x="0" y="112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8428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lvl="0" indent="0" defTabSz="11112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/>
                <a:t>Findings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7A04B70-5EEB-40FB-CFC7-186455875E7B}"/>
                </a:ext>
              </a:extLst>
            </p:cNvPr>
            <p:cNvSpPr/>
            <p:nvPr/>
          </p:nvSpPr>
          <p:spPr>
            <a:xfrm>
              <a:off x="762000" y="2456115"/>
              <a:ext cx="3930052" cy="1494845"/>
            </a:xfrm>
            <a:custGeom>
              <a:avLst/>
              <a:gdLst>
                <a:gd name="csX0" fmla="*/ 0 w 5181600"/>
                <a:gd name="csY0" fmla="*/ 0 h 1980517"/>
                <a:gd name="csX1" fmla="*/ 5181600 w 5181600"/>
                <a:gd name="csY1" fmla="*/ 0 h 1980517"/>
                <a:gd name="csX2" fmla="*/ 5181600 w 5181600"/>
                <a:gd name="csY2" fmla="*/ 1980517 h 1980517"/>
                <a:gd name="csX3" fmla="*/ 0 w 5181600"/>
                <a:gd name="csY3" fmla="*/ 1980517 h 1980517"/>
                <a:gd name="csX4" fmla="*/ 0 w 5181600"/>
                <a:gd name="csY4" fmla="*/ 0 h 19805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980517">
                  <a:moveTo>
                    <a:pt x="0" y="0"/>
                  </a:moveTo>
                  <a:lnTo>
                    <a:pt x="5181600" y="0"/>
                  </a:lnTo>
                  <a:lnTo>
                    <a:pt x="5181600" y="1980517"/>
                  </a:lnTo>
                  <a:lnTo>
                    <a:pt x="0" y="198051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42240" bIns="160020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sz="1700" u="sng" kern="1200" dirty="0" err="1"/>
                <a:t>PostgreSQL</a:t>
              </a:r>
              <a:r>
                <a:rPr lang="tr-TR" sz="1700" kern="1200" dirty="0"/>
                <a:t> is </a:t>
              </a:r>
              <a:r>
                <a:rPr lang="tr-TR" sz="1700" kern="1200" dirty="0" err="1"/>
                <a:t>the</a:t>
              </a:r>
              <a:r>
                <a:rPr lang="tr-TR" sz="1700" kern="1200" dirty="0"/>
                <a:t> market </a:t>
              </a:r>
              <a:r>
                <a:rPr lang="tr-TR" sz="1700" kern="1200" dirty="0" err="1"/>
                <a:t>leader</a:t>
              </a:r>
              <a:r>
                <a:rPr lang="tr-TR" sz="1700" kern="1200" dirty="0"/>
                <a:t>.</a:t>
              </a:r>
              <a:endParaRPr lang="en-US" sz="1700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sz="1700" u="sng" kern="1200" dirty="0" err="1"/>
                <a:t>Decrease</a:t>
              </a:r>
              <a:r>
                <a:rPr lang="tr-TR" sz="1700" u="sng" kern="1200" dirty="0"/>
                <a:t> in MySQL is </a:t>
              </a:r>
              <a:r>
                <a:rPr lang="tr-TR" sz="1700" u="sng" kern="1200" dirty="0" err="1"/>
                <a:t>overt</a:t>
              </a:r>
              <a:r>
                <a:rPr lang="tr-TR" sz="1700" u="sng" kern="1200" dirty="0"/>
                <a:t>.</a:t>
              </a:r>
              <a:endParaRPr lang="en-US" sz="1700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sz="1700" u="sng" kern="1200" dirty="0"/>
                <a:t>MS SQL Server not </a:t>
              </a:r>
              <a:r>
                <a:rPr lang="tr-TR" sz="1700" u="sng" kern="1200" dirty="0" err="1"/>
                <a:t>catching</a:t>
              </a:r>
              <a:r>
                <a:rPr lang="tr-TR" sz="1700" u="sng" kern="1200" dirty="0"/>
                <a:t> </a:t>
              </a:r>
              <a:r>
                <a:rPr lang="tr-TR" sz="1700" u="sng" kern="1200" dirty="0" err="1"/>
                <a:t>up</a:t>
              </a:r>
              <a:r>
                <a:rPr lang="tr-TR" sz="1700" u="sng" kern="1200" dirty="0"/>
                <a:t>.</a:t>
              </a:r>
              <a:endParaRPr lang="en-US" sz="1700" kern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1809294-D33C-72C8-85E1-3697F06C2790}"/>
              </a:ext>
            </a:extLst>
          </p:cNvPr>
          <p:cNvGrpSpPr/>
          <p:nvPr/>
        </p:nvGrpSpPr>
        <p:grpSpPr>
          <a:xfrm>
            <a:off x="4572000" y="1609838"/>
            <a:ext cx="7010401" cy="3266964"/>
            <a:chOff x="6120384" y="1609838"/>
            <a:chExt cx="5181600" cy="326696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1CE5CE6-8DB4-E352-F359-CCA94E3E07FD}"/>
                </a:ext>
              </a:extLst>
            </p:cNvPr>
            <p:cNvSpPr/>
            <p:nvPr/>
          </p:nvSpPr>
          <p:spPr>
            <a:xfrm>
              <a:off x="6120384" y="1609838"/>
              <a:ext cx="5181600" cy="1180800"/>
            </a:xfrm>
            <a:custGeom>
              <a:avLst/>
              <a:gdLst>
                <a:gd name="csX0" fmla="*/ 0 w 5181600"/>
                <a:gd name="csY0" fmla="*/ 0 h 1180800"/>
                <a:gd name="csX1" fmla="*/ 5181600 w 5181600"/>
                <a:gd name="csY1" fmla="*/ 0 h 1180800"/>
                <a:gd name="csX2" fmla="*/ 5181600 w 5181600"/>
                <a:gd name="csY2" fmla="*/ 1180800 h 1180800"/>
                <a:gd name="csX3" fmla="*/ 0 w 5181600"/>
                <a:gd name="csY3" fmla="*/ 1180800 h 1180800"/>
                <a:gd name="csX4" fmla="*/ 0 w 5181600"/>
                <a:gd name="csY4" fmla="*/ 0 h 118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180800">
                  <a:moveTo>
                    <a:pt x="0" y="0"/>
                  </a:moveTo>
                  <a:lnTo>
                    <a:pt x="5181600" y="0"/>
                  </a:lnTo>
                  <a:lnTo>
                    <a:pt x="5181600" y="1180800"/>
                  </a:lnTo>
                  <a:lnTo>
                    <a:pt x="0" y="118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8428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lvl="0" indent="0" defTabSz="11112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/>
                <a:t>Implications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3C19BC1-0F2B-B706-F5DF-299AC9CD8409}"/>
                </a:ext>
              </a:extLst>
            </p:cNvPr>
            <p:cNvSpPr/>
            <p:nvPr/>
          </p:nvSpPr>
          <p:spPr>
            <a:xfrm>
              <a:off x="6120384" y="2790639"/>
              <a:ext cx="5181600" cy="2086163"/>
            </a:xfrm>
            <a:custGeom>
              <a:avLst/>
              <a:gdLst>
                <a:gd name="csX0" fmla="*/ 0 w 5181600"/>
                <a:gd name="csY0" fmla="*/ 0 h 3151260"/>
                <a:gd name="csX1" fmla="*/ 5181600 w 5181600"/>
                <a:gd name="csY1" fmla="*/ 0 h 3151260"/>
                <a:gd name="csX2" fmla="*/ 5181600 w 5181600"/>
                <a:gd name="csY2" fmla="*/ 3151260 h 3151260"/>
                <a:gd name="csX3" fmla="*/ 0 w 5181600"/>
                <a:gd name="csY3" fmla="*/ 3151260 h 3151260"/>
                <a:gd name="csX4" fmla="*/ 0 w 5181600"/>
                <a:gd name="csY4" fmla="*/ 0 h 31512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3151260">
                  <a:moveTo>
                    <a:pt x="0" y="0"/>
                  </a:moveTo>
                  <a:lnTo>
                    <a:pt x="5181600" y="0"/>
                  </a:lnTo>
                  <a:lnTo>
                    <a:pt x="5181600" y="3151260"/>
                  </a:lnTo>
                  <a:lnTo>
                    <a:pt x="0" y="315126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42240" bIns="160020" numCol="1" spcCol="1270" anchor="t" anchorCtr="0">
              <a:noAutofit/>
            </a:bodyPr>
            <a:lstStyle/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700" dirty="0"/>
                <a:t>Seems not to get outdated in the near future.</a:t>
              </a:r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sz="1700" kern="1200" dirty="0" err="1"/>
                <a:t>The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rivalry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between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from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the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second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to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the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fourth</a:t>
              </a:r>
              <a:r>
                <a:rPr lang="tr-TR" sz="1700" kern="1200" dirty="0"/>
                <a:t> is </a:t>
              </a:r>
              <a:r>
                <a:rPr lang="tr-TR" sz="1700" kern="1200" dirty="0" err="1"/>
                <a:t>more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evident</a:t>
              </a:r>
              <a:r>
                <a:rPr lang="tr-TR" sz="1700" kern="1200" dirty="0"/>
                <a:t>.</a:t>
              </a:r>
              <a:endParaRPr lang="en-US" sz="1700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sz="1700" kern="1200" dirty="0" err="1"/>
                <a:t>Rivalry</a:t>
              </a:r>
              <a:r>
                <a:rPr lang="tr-TR" sz="1700" kern="1200" dirty="0"/>
                <a:t> at </a:t>
              </a:r>
              <a:r>
                <a:rPr lang="tr-TR" sz="1700" kern="1200" dirty="0" err="1"/>
                <a:t>the</a:t>
              </a:r>
              <a:r>
                <a:rPr lang="tr-TR" sz="1700" kern="1200" dirty="0"/>
                <a:t> top, </a:t>
              </a:r>
              <a:r>
                <a:rPr lang="tr-TR" sz="1700" kern="1200" dirty="0" err="1"/>
                <a:t>new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trends</a:t>
              </a:r>
              <a:r>
                <a:rPr lang="tr-TR" sz="1700" kern="1200" dirty="0"/>
                <a:t> at </a:t>
              </a:r>
              <a:r>
                <a:rPr lang="tr-TR" sz="1700" kern="1200" dirty="0" err="1"/>
                <a:t>the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bottom</a:t>
              </a:r>
              <a:r>
                <a:rPr lang="tr-TR" sz="1700" kern="1200" dirty="0"/>
                <a:t>; MS SQL Server not in </a:t>
              </a:r>
              <a:r>
                <a:rPr lang="tr-TR" sz="1700" kern="1200" dirty="0" err="1"/>
                <a:t>either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category</a:t>
              </a:r>
              <a:endParaRPr lang="en-US" sz="1700" kern="12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20" y="1901820"/>
            <a:ext cx="3054361" cy="30543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7790F5-595C-3339-E589-708E77007FDA}"/>
              </a:ext>
            </a:extLst>
          </p:cNvPr>
          <p:cNvSpPr txBox="1"/>
          <p:nvPr/>
        </p:nvSpPr>
        <p:spPr>
          <a:xfrm>
            <a:off x="2743200" y="4780993"/>
            <a:ext cx="670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https://github.com/ali-can-turan/ibm-capstone</a:t>
            </a:r>
            <a:endParaRPr lang="en-US" sz="2400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2" y="365125"/>
            <a:ext cx="11087100" cy="985693"/>
          </a:xfrm>
        </p:spPr>
        <p:txBody>
          <a:bodyPr anchor="ctr">
            <a:noAutofit/>
          </a:bodyPr>
          <a:lstStyle/>
          <a:p>
            <a:r>
              <a:rPr lang="en-US" noProof="0" dirty="0"/>
              <a:t>DASHBOARD TAB 1: Current Technology Usage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42F373-41CE-64EE-B744-9749D79DE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24000"/>
            <a:ext cx="10972800" cy="35749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C6282B-AB3E-958C-E939-4326EE6DD546}"/>
              </a:ext>
            </a:extLst>
          </p:cNvPr>
          <p:cNvSpPr txBox="1"/>
          <p:nvPr/>
        </p:nvSpPr>
        <p:spPr>
          <a:xfrm>
            <a:off x="914400" y="5154471"/>
            <a:ext cx="10515600" cy="1170129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solidFill>
              <a:srgbClr val="FFA5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b="1" dirty="0" err="1"/>
              <a:t>JS</a:t>
            </a:r>
            <a:r>
              <a:rPr lang="tr-TR" sz="1200" dirty="0"/>
              <a:t> </a:t>
            </a:r>
            <a:r>
              <a:rPr lang="tr-TR" sz="1200" dirty="0" err="1"/>
              <a:t>stands</a:t>
            </a:r>
            <a:r>
              <a:rPr lang="tr-TR" sz="1200" dirty="0"/>
              <a:t> </a:t>
            </a:r>
            <a:r>
              <a:rPr lang="tr-TR" sz="1200" dirty="0" err="1"/>
              <a:t>out</a:t>
            </a:r>
            <a:r>
              <a:rPr lang="tr-TR" sz="1200" dirty="0"/>
              <a:t> as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leader</a:t>
            </a:r>
            <a:r>
              <a:rPr lang="tr-TR" sz="1200" dirty="0"/>
              <a:t> </a:t>
            </a:r>
            <a:r>
              <a:rPr lang="tr-TR" sz="1200" dirty="0" err="1"/>
              <a:t>by</a:t>
            </a:r>
            <a:r>
              <a:rPr lang="tr-TR" sz="1200" dirty="0"/>
              <a:t> a </a:t>
            </a:r>
            <a:r>
              <a:rPr lang="tr-TR" sz="1200" dirty="0" err="1"/>
              <a:t>margin</a:t>
            </a:r>
            <a:r>
              <a:rPr lang="tr-TR" sz="1200" dirty="0"/>
              <a:t> of </a:t>
            </a:r>
            <a:r>
              <a:rPr lang="tr-TR" sz="1200" b="1" dirty="0">
                <a:solidFill>
                  <a:srgbClr val="ED8428"/>
                </a:solidFill>
              </a:rPr>
              <a:t>10% </a:t>
            </a:r>
            <a:r>
              <a:rPr lang="tr-TR" sz="1200" dirty="0" err="1"/>
              <a:t>from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closest</a:t>
            </a:r>
            <a:r>
              <a:rPr lang="tr-TR" sz="1200" dirty="0"/>
              <a:t> </a:t>
            </a:r>
            <a:r>
              <a:rPr lang="tr-TR" sz="1200" dirty="0" err="1"/>
              <a:t>rival</a:t>
            </a:r>
            <a:r>
              <a:rPr lang="tr-TR" sz="1200" dirty="0"/>
              <a:t>: </a:t>
            </a:r>
            <a:r>
              <a:rPr lang="tr-TR" sz="1200" b="1" dirty="0"/>
              <a:t>SQL.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dirty="0" err="1"/>
              <a:t>Rivalry</a:t>
            </a:r>
            <a:r>
              <a:rPr lang="tr-TR" sz="1200" dirty="0"/>
              <a:t> </a:t>
            </a:r>
            <a:r>
              <a:rPr lang="tr-TR" sz="1200" dirty="0" err="1"/>
              <a:t>between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databases</a:t>
            </a:r>
            <a:r>
              <a:rPr lang="tr-TR" sz="1200" dirty="0"/>
              <a:t> is </a:t>
            </a:r>
            <a:r>
              <a:rPr lang="tr-TR" sz="1200" dirty="0" err="1"/>
              <a:t>more</a:t>
            </a:r>
            <a:r>
              <a:rPr lang="tr-TR" sz="1200" dirty="0"/>
              <a:t> </a:t>
            </a:r>
            <a:r>
              <a:rPr lang="tr-TR" sz="1200" dirty="0" err="1"/>
              <a:t>eminent</a:t>
            </a:r>
            <a:r>
              <a:rPr lang="tr-TR" sz="1200" dirty="0"/>
              <a:t> </a:t>
            </a:r>
            <a:r>
              <a:rPr lang="tr-TR" sz="1200" dirty="0" err="1"/>
              <a:t>compared</a:t>
            </a:r>
            <a:r>
              <a:rPr lang="tr-TR" sz="1200" dirty="0"/>
              <a:t> </a:t>
            </a:r>
            <a:r>
              <a:rPr lang="tr-TR" sz="1200" dirty="0" err="1"/>
              <a:t>to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languages</a:t>
            </a:r>
            <a:r>
              <a:rPr lang="tr-TR" sz="1200" dirty="0"/>
              <a:t>, </a:t>
            </a:r>
            <a:r>
              <a:rPr lang="tr-TR" sz="1200" dirty="0" err="1"/>
              <a:t>which</a:t>
            </a:r>
            <a:r>
              <a:rPr lang="tr-TR" sz="1200" dirty="0"/>
              <a:t> </a:t>
            </a:r>
            <a:r>
              <a:rPr lang="tr-TR" sz="1200" dirty="0" err="1"/>
              <a:t>means</a:t>
            </a:r>
            <a:r>
              <a:rPr lang="tr-TR" sz="1200" dirty="0"/>
              <a:t> </a:t>
            </a:r>
            <a:r>
              <a:rPr lang="tr-TR" sz="1200" dirty="0" err="1"/>
              <a:t>no</a:t>
            </a:r>
            <a:r>
              <a:rPr lang="tr-TR" sz="1200" dirty="0"/>
              <a:t> </a:t>
            </a:r>
            <a:r>
              <a:rPr lang="tr-TR" sz="1200" dirty="0" err="1"/>
              <a:t>single</a:t>
            </a:r>
            <a:r>
              <a:rPr lang="tr-TR" sz="1200" dirty="0"/>
              <a:t> </a:t>
            </a:r>
            <a:r>
              <a:rPr lang="tr-TR" sz="1200" dirty="0" err="1"/>
              <a:t>brand</a:t>
            </a:r>
            <a:r>
              <a:rPr lang="tr-TR" sz="1200" dirty="0"/>
              <a:t> </a:t>
            </a:r>
            <a:r>
              <a:rPr lang="tr-TR" sz="1200" dirty="0" err="1"/>
              <a:t>should</a:t>
            </a:r>
            <a:r>
              <a:rPr lang="tr-TR" sz="1200" dirty="0"/>
              <a:t> be </a:t>
            </a:r>
            <a:r>
              <a:rPr lang="tr-TR" sz="1200" dirty="0" err="1"/>
              <a:t>overlooked</a:t>
            </a:r>
            <a:r>
              <a:rPr lang="tr-TR" sz="12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b="1" dirty="0"/>
              <a:t>Amazon Web Services </a:t>
            </a:r>
            <a:r>
              <a:rPr lang="tr-TR" sz="1200" dirty="0"/>
              <a:t>is </a:t>
            </a:r>
            <a:r>
              <a:rPr lang="tr-TR" sz="1200" dirty="0" err="1"/>
              <a:t>visibly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most</a:t>
            </a:r>
            <a:r>
              <a:rPr lang="tr-TR" sz="1200" dirty="0"/>
              <a:t> popular platform </a:t>
            </a:r>
            <a:r>
              <a:rPr lang="tr-TR" sz="1200" dirty="0" err="1"/>
              <a:t>leaving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others</a:t>
            </a:r>
            <a:r>
              <a:rPr lang="tr-TR" sz="1200" dirty="0"/>
              <a:t> </a:t>
            </a:r>
            <a:r>
              <a:rPr lang="tr-TR" sz="1200" dirty="0" err="1"/>
              <a:t>way</a:t>
            </a:r>
            <a:r>
              <a:rPr lang="tr-TR" sz="1200" dirty="0"/>
              <a:t> </a:t>
            </a:r>
            <a:r>
              <a:rPr lang="tr-TR" sz="1200" dirty="0" err="1"/>
              <a:t>behind</a:t>
            </a:r>
            <a:r>
              <a:rPr lang="tr-TR" sz="12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b="1" dirty="0"/>
              <a:t>Node.js </a:t>
            </a:r>
            <a:r>
              <a:rPr lang="tr-TR" sz="1200" dirty="0" err="1"/>
              <a:t>seems</a:t>
            </a:r>
            <a:r>
              <a:rPr lang="tr-TR" sz="1200" dirty="0"/>
              <a:t> </a:t>
            </a:r>
            <a:r>
              <a:rPr lang="tr-TR" sz="1200" dirty="0" err="1"/>
              <a:t>to</a:t>
            </a:r>
            <a:r>
              <a:rPr lang="tr-TR" sz="1200" dirty="0"/>
              <a:t> </a:t>
            </a:r>
            <a:r>
              <a:rPr lang="tr-TR" sz="1200" dirty="0" err="1"/>
              <a:t>continue</a:t>
            </a:r>
            <a:r>
              <a:rPr lang="tr-TR" sz="1200" dirty="0"/>
              <a:t> </a:t>
            </a:r>
            <a:r>
              <a:rPr lang="tr-TR" sz="1200" dirty="0" err="1"/>
              <a:t>its</a:t>
            </a:r>
            <a:r>
              <a:rPr lang="tr-TR" sz="1200" dirty="0"/>
              <a:t> </a:t>
            </a:r>
            <a:r>
              <a:rPr lang="tr-TR" sz="1200" dirty="0" err="1"/>
              <a:t>prominence</a:t>
            </a:r>
            <a:r>
              <a:rPr lang="tr-TR" sz="1200" dirty="0"/>
              <a:t> in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back-end</a:t>
            </a:r>
            <a:r>
              <a:rPr lang="tr-TR" sz="1200" dirty="0"/>
              <a:t> </a:t>
            </a:r>
            <a:r>
              <a:rPr lang="tr-TR" sz="1200" dirty="0" err="1"/>
              <a:t>with</a:t>
            </a:r>
            <a:r>
              <a:rPr lang="tr-TR" sz="1200" dirty="0"/>
              <a:t> </a:t>
            </a:r>
            <a:r>
              <a:rPr lang="tr-TR" sz="1200" dirty="0" err="1"/>
              <a:t>speed</a:t>
            </a:r>
            <a:r>
              <a:rPr lang="tr-TR" sz="1200" dirty="0"/>
              <a:t> </a:t>
            </a:r>
            <a:r>
              <a:rPr lang="tr-TR" sz="1200" dirty="0" err="1"/>
              <a:t>advantages</a:t>
            </a:r>
            <a:r>
              <a:rPr lang="tr-TR" sz="1200" dirty="0"/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4" y="531380"/>
            <a:ext cx="11055926" cy="1016866"/>
          </a:xfrm>
        </p:spPr>
        <p:txBody>
          <a:bodyPr anchor="ctr">
            <a:normAutofit fontScale="90000"/>
          </a:bodyPr>
          <a:lstStyle/>
          <a:p>
            <a:r>
              <a:rPr lang="en-US" noProof="0" dirty="0"/>
              <a:t>DASHBOARD TAB 2: Future Technology Trends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2645B5-5452-774A-7FDB-5A69CB97D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47800"/>
            <a:ext cx="10972800" cy="3505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0F25F8-FAA1-0F08-B5FE-74204782F3F5}"/>
              </a:ext>
            </a:extLst>
          </p:cNvPr>
          <p:cNvSpPr txBox="1"/>
          <p:nvPr/>
        </p:nvSpPr>
        <p:spPr>
          <a:xfrm>
            <a:off x="838200" y="5029200"/>
            <a:ext cx="10515600" cy="1170129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solidFill>
              <a:srgbClr val="FFA5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b="1" dirty="0" err="1"/>
              <a:t>JS</a:t>
            </a:r>
            <a:r>
              <a:rPr lang="tr-TR" sz="1200" dirty="0"/>
              <a:t> is </a:t>
            </a:r>
            <a:r>
              <a:rPr lang="tr-TR" sz="1200" dirty="0" err="1"/>
              <a:t>no</a:t>
            </a:r>
            <a:r>
              <a:rPr lang="tr-TR" sz="1200" dirty="0"/>
              <a:t> </a:t>
            </a:r>
            <a:r>
              <a:rPr lang="tr-TR" sz="1200" dirty="0" err="1"/>
              <a:t>longer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by</a:t>
            </a:r>
            <a:r>
              <a:rPr lang="tr-TR" sz="1200" dirty="0"/>
              <a:t>-far-</a:t>
            </a:r>
            <a:r>
              <a:rPr lang="tr-TR" sz="1200" dirty="0" err="1"/>
              <a:t>leader</a:t>
            </a:r>
            <a:r>
              <a:rPr lang="tr-TR" sz="1200" dirty="0"/>
              <a:t>. </a:t>
            </a:r>
            <a:r>
              <a:rPr lang="tr-TR" sz="1200" dirty="0" err="1"/>
              <a:t>Rivalry</a:t>
            </a:r>
            <a:r>
              <a:rPr lang="tr-TR" sz="1200" dirty="0"/>
              <a:t> is </a:t>
            </a:r>
            <a:r>
              <a:rPr lang="tr-TR" sz="1200" dirty="0" err="1"/>
              <a:t>now</a:t>
            </a:r>
            <a:r>
              <a:rPr lang="tr-TR" sz="1200" dirty="0"/>
              <a:t> </a:t>
            </a:r>
            <a:r>
              <a:rPr lang="tr-TR" sz="1200" dirty="0" err="1"/>
              <a:t>emminent</a:t>
            </a:r>
            <a:r>
              <a:rPr lang="tr-TR" sz="1200" dirty="0"/>
              <a:t> </a:t>
            </a:r>
            <a:r>
              <a:rPr lang="tr-TR" sz="1200" dirty="0" err="1"/>
              <a:t>between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first</a:t>
            </a:r>
            <a:r>
              <a:rPr lang="tr-TR" sz="1200" b="1" dirty="0">
                <a:solidFill>
                  <a:srgbClr val="ED8428"/>
                </a:solidFill>
              </a:rPr>
              <a:t> 5.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dirty="0" err="1"/>
              <a:t>There</a:t>
            </a:r>
            <a:r>
              <a:rPr lang="tr-TR" sz="1200" dirty="0"/>
              <a:t> </a:t>
            </a:r>
            <a:r>
              <a:rPr lang="tr-TR" sz="1200" dirty="0" err="1"/>
              <a:t>seems</a:t>
            </a:r>
            <a:r>
              <a:rPr lang="tr-TR" sz="1200" dirty="0"/>
              <a:t> </a:t>
            </a:r>
            <a:r>
              <a:rPr lang="tr-TR" sz="1200" dirty="0" err="1"/>
              <a:t>that</a:t>
            </a:r>
            <a:r>
              <a:rPr lang="tr-TR" sz="1200" dirty="0"/>
              <a:t> </a:t>
            </a:r>
            <a:r>
              <a:rPr lang="tr-TR" sz="1200" b="1" dirty="0" err="1"/>
              <a:t>PostgreSQL</a:t>
            </a:r>
            <a:r>
              <a:rPr lang="tr-TR" sz="1200" dirty="0"/>
              <a:t> </a:t>
            </a:r>
            <a:r>
              <a:rPr lang="tr-TR" sz="1200" dirty="0" err="1"/>
              <a:t>will</a:t>
            </a:r>
            <a:r>
              <a:rPr lang="tr-TR" sz="1200" dirty="0"/>
              <a:t> </a:t>
            </a:r>
            <a:r>
              <a:rPr lang="tr-TR" sz="1200" dirty="0" err="1"/>
              <a:t>solidfy</a:t>
            </a:r>
            <a:r>
              <a:rPr lang="tr-TR" sz="1200" dirty="0"/>
              <a:t> </a:t>
            </a:r>
            <a:r>
              <a:rPr lang="tr-TR" sz="1200" dirty="0" err="1"/>
              <a:t>its</a:t>
            </a:r>
            <a:r>
              <a:rPr lang="tr-TR" sz="1200" dirty="0"/>
              <a:t> </a:t>
            </a:r>
            <a:r>
              <a:rPr lang="tr-TR" sz="1200" dirty="0" err="1"/>
              <a:t>ground</a:t>
            </a:r>
            <a:r>
              <a:rPr lang="tr-TR" sz="1200" dirty="0"/>
              <a:t> as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first</a:t>
            </a:r>
            <a:r>
              <a:rPr lang="tr-TR" sz="1200" dirty="0"/>
              <a:t>. But </a:t>
            </a:r>
            <a:r>
              <a:rPr lang="tr-TR" sz="1200" dirty="0" err="1"/>
              <a:t>rivalry</a:t>
            </a:r>
            <a:r>
              <a:rPr lang="tr-TR" sz="1200" dirty="0"/>
              <a:t> is </a:t>
            </a:r>
            <a:r>
              <a:rPr lang="tr-TR" sz="1200" dirty="0" err="1"/>
              <a:t>getting</a:t>
            </a:r>
            <a:r>
              <a:rPr lang="tr-TR" sz="1200" dirty="0"/>
              <a:t> </a:t>
            </a:r>
            <a:r>
              <a:rPr lang="tr-TR" sz="1200" dirty="0" err="1"/>
              <a:t>visible</a:t>
            </a:r>
            <a:r>
              <a:rPr lang="tr-TR" sz="1200" dirty="0"/>
              <a:t> </a:t>
            </a:r>
            <a:r>
              <a:rPr lang="tr-TR" sz="1200" dirty="0" err="1"/>
              <a:t>between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b="1" dirty="0">
                <a:solidFill>
                  <a:srgbClr val="ED8428"/>
                </a:solidFill>
              </a:rPr>
              <a:t>4 </a:t>
            </a:r>
            <a:r>
              <a:rPr lang="tr-TR" sz="1200" b="1" dirty="0" err="1">
                <a:solidFill>
                  <a:srgbClr val="ED8428"/>
                </a:solidFill>
              </a:rPr>
              <a:t>chasers</a:t>
            </a:r>
            <a:r>
              <a:rPr lang="tr-TR" sz="1200" b="1" dirty="0">
                <a:solidFill>
                  <a:srgbClr val="ED8428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b="1" dirty="0"/>
              <a:t>Amazon Web Services </a:t>
            </a:r>
            <a:r>
              <a:rPr lang="tr-TR" sz="1200" dirty="0" err="1"/>
              <a:t>seems</a:t>
            </a:r>
            <a:r>
              <a:rPr lang="tr-TR" sz="1200" dirty="0"/>
              <a:t> </a:t>
            </a:r>
            <a:r>
              <a:rPr lang="tr-TR" sz="1200" dirty="0" err="1"/>
              <a:t>to</a:t>
            </a:r>
            <a:r>
              <a:rPr lang="tr-TR" sz="1200" dirty="0"/>
              <a:t> </a:t>
            </a:r>
            <a:r>
              <a:rPr lang="tr-TR" sz="1200" dirty="0" err="1"/>
              <a:t>protect</a:t>
            </a:r>
            <a:r>
              <a:rPr lang="tr-TR" sz="1200" dirty="0"/>
              <a:t> </a:t>
            </a:r>
            <a:r>
              <a:rPr lang="tr-TR" sz="1200" dirty="0" err="1"/>
              <a:t>its</a:t>
            </a:r>
            <a:r>
              <a:rPr lang="tr-TR" sz="1200" dirty="0"/>
              <a:t> </a:t>
            </a:r>
            <a:r>
              <a:rPr lang="tr-TR" sz="1200" dirty="0" err="1"/>
              <a:t>place</a:t>
            </a:r>
            <a:r>
              <a:rPr lang="tr-TR" sz="1200" dirty="0"/>
              <a:t>. But </a:t>
            </a:r>
            <a:r>
              <a:rPr lang="tr-TR" sz="1200" dirty="0" err="1"/>
              <a:t>now</a:t>
            </a:r>
            <a:r>
              <a:rPr lang="tr-TR" sz="1200" dirty="0"/>
              <a:t> </a:t>
            </a:r>
            <a:r>
              <a:rPr lang="tr-TR" sz="1200" dirty="0" err="1"/>
              <a:t>rivals</a:t>
            </a:r>
            <a:r>
              <a:rPr lang="tr-TR" sz="1200" dirty="0"/>
              <a:t> </a:t>
            </a:r>
            <a:r>
              <a:rPr lang="tr-TR" sz="1200" dirty="0" err="1"/>
              <a:t>are</a:t>
            </a:r>
            <a:r>
              <a:rPr lang="tr-TR" sz="1200" dirty="0"/>
              <a:t> </a:t>
            </a:r>
            <a:r>
              <a:rPr lang="tr-TR" sz="1200" dirty="0" err="1"/>
              <a:t>following</a:t>
            </a:r>
            <a:r>
              <a:rPr lang="tr-TR" sz="1200" dirty="0"/>
              <a:t> </a:t>
            </a:r>
            <a:r>
              <a:rPr lang="tr-TR" sz="1200" dirty="0" err="1"/>
              <a:t>more</a:t>
            </a:r>
            <a:r>
              <a:rPr lang="tr-TR" sz="1200" dirty="0"/>
              <a:t> </a:t>
            </a:r>
            <a:r>
              <a:rPr lang="tr-TR" sz="1200" dirty="0" err="1"/>
              <a:t>closely</a:t>
            </a:r>
            <a:r>
              <a:rPr lang="tr-TR" sz="12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dirty="0" err="1"/>
              <a:t>There</a:t>
            </a:r>
            <a:r>
              <a:rPr lang="tr-TR" sz="1200" dirty="0"/>
              <a:t> </a:t>
            </a:r>
            <a:r>
              <a:rPr lang="tr-TR" sz="1200" dirty="0" err="1"/>
              <a:t>seems</a:t>
            </a:r>
            <a:r>
              <a:rPr lang="tr-TR" sz="1200" dirty="0"/>
              <a:t> </a:t>
            </a:r>
            <a:r>
              <a:rPr lang="tr-TR" sz="1200" dirty="0" err="1"/>
              <a:t>to</a:t>
            </a:r>
            <a:r>
              <a:rPr lang="tr-TR" sz="1200" dirty="0"/>
              <a:t> be </a:t>
            </a:r>
            <a:r>
              <a:rPr lang="tr-TR" sz="1200" dirty="0" err="1"/>
              <a:t>no</a:t>
            </a:r>
            <a:r>
              <a:rPr lang="tr-TR" sz="1200" dirty="0"/>
              <a:t> </a:t>
            </a:r>
            <a:r>
              <a:rPr lang="tr-TR" sz="1200" dirty="0" err="1"/>
              <a:t>change</a:t>
            </a:r>
            <a:r>
              <a:rPr lang="tr-TR" sz="1200" dirty="0"/>
              <a:t> in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popularity</a:t>
            </a:r>
            <a:r>
              <a:rPr lang="tr-TR" sz="1200" dirty="0"/>
              <a:t> </a:t>
            </a:r>
            <a:r>
              <a:rPr lang="tr-TR" sz="1200" dirty="0" err="1"/>
              <a:t>hierarchy</a:t>
            </a:r>
            <a:r>
              <a:rPr lang="tr-TR" sz="1200" dirty="0"/>
              <a:t> </a:t>
            </a:r>
            <a:r>
              <a:rPr lang="tr-TR" sz="1200" dirty="0" err="1"/>
              <a:t>within</a:t>
            </a:r>
            <a:r>
              <a:rPr lang="tr-TR" sz="1200" dirty="0"/>
              <a:t> web </a:t>
            </a:r>
            <a:r>
              <a:rPr lang="tr-TR" sz="1200" dirty="0" err="1"/>
              <a:t>frames</a:t>
            </a:r>
            <a:r>
              <a:rPr lang="tr-TR" sz="1200" dirty="0"/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DASHBOARD TAB 3: Demographics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61E729-F0D9-1DED-BD0A-005E1B6AC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47800"/>
            <a:ext cx="10972800" cy="3657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E997B4-B44F-1516-9853-242438CEEE30}"/>
              </a:ext>
            </a:extLst>
          </p:cNvPr>
          <p:cNvSpPr txBox="1"/>
          <p:nvPr/>
        </p:nvSpPr>
        <p:spPr>
          <a:xfrm>
            <a:off x="838200" y="5105400"/>
            <a:ext cx="10515600" cy="1193212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solidFill>
              <a:srgbClr val="FFA5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tr-TR" sz="1200" dirty="0"/>
              <a:t>35-44 </a:t>
            </a:r>
            <a:r>
              <a:rPr lang="tr-TR" sz="1200" dirty="0" err="1"/>
              <a:t>year-olds</a:t>
            </a:r>
            <a:r>
              <a:rPr lang="tr-TR" sz="1200" dirty="0"/>
              <a:t> </a:t>
            </a:r>
            <a:r>
              <a:rPr lang="tr-TR" sz="1200" dirty="0" err="1"/>
              <a:t>are</a:t>
            </a:r>
            <a:r>
              <a:rPr lang="tr-TR" sz="1200" dirty="0"/>
              <a:t> </a:t>
            </a:r>
            <a:r>
              <a:rPr lang="tr-TR" sz="1200" dirty="0" err="1"/>
              <a:t>only</a:t>
            </a:r>
            <a:r>
              <a:rPr lang="tr-TR" sz="1200" dirty="0"/>
              <a:t> </a:t>
            </a:r>
            <a:r>
              <a:rPr lang="tr-TR" sz="1200" dirty="0" err="1"/>
              <a:t>beaten</a:t>
            </a:r>
            <a:r>
              <a:rPr lang="tr-TR" sz="1200" dirty="0"/>
              <a:t> </a:t>
            </a:r>
            <a:r>
              <a:rPr lang="tr-TR" sz="1200" dirty="0" err="1"/>
              <a:t>by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18-24 </a:t>
            </a:r>
            <a:r>
              <a:rPr lang="tr-TR" sz="1200" dirty="0" err="1"/>
              <a:t>and</a:t>
            </a:r>
            <a:r>
              <a:rPr lang="tr-TR" sz="1200" dirty="0"/>
              <a:t> 35-44 </a:t>
            </a:r>
            <a:r>
              <a:rPr lang="tr-TR" sz="1200" dirty="0" err="1"/>
              <a:t>year-olds</a:t>
            </a:r>
            <a:r>
              <a:rPr lang="tr-TR" sz="1200" dirty="0"/>
              <a:t> </a:t>
            </a:r>
            <a:r>
              <a:rPr lang="tr-TR" sz="1200" dirty="0" err="1"/>
              <a:t>combined</a:t>
            </a:r>
            <a:r>
              <a:rPr lang="tr-TR" sz="1200" dirty="0"/>
              <a:t>.</a:t>
            </a:r>
            <a:endParaRPr lang="tr-TR" sz="1200" dirty="0">
              <a:solidFill>
                <a:srgbClr val="ED8428"/>
              </a:solidFill>
            </a:endParaRPr>
          </a:p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tr-TR" sz="1200" dirty="0" err="1"/>
              <a:t>Majority</a:t>
            </a:r>
            <a:r>
              <a:rPr lang="tr-TR" sz="1200" dirty="0"/>
              <a:t> of </a:t>
            </a:r>
            <a:r>
              <a:rPr lang="tr-TR" sz="1200" dirty="0" err="1"/>
              <a:t>respondents</a:t>
            </a:r>
            <a:r>
              <a:rPr lang="tr-TR" sz="1200" dirty="0"/>
              <a:t> </a:t>
            </a:r>
            <a:r>
              <a:rPr lang="tr-TR" sz="1200" dirty="0" err="1"/>
              <a:t>are</a:t>
            </a:r>
            <a:r>
              <a:rPr lang="tr-TR" sz="1200" dirty="0"/>
              <a:t> </a:t>
            </a:r>
            <a:r>
              <a:rPr lang="tr-TR" sz="1200" dirty="0" err="1"/>
              <a:t>from</a:t>
            </a:r>
            <a:r>
              <a:rPr lang="tr-TR" sz="1200" dirty="0"/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the</a:t>
            </a:r>
            <a:r>
              <a:rPr lang="tr-TR" sz="1200" b="1" dirty="0">
                <a:solidFill>
                  <a:srgbClr val="ED8428"/>
                </a:solidFill>
              </a:rPr>
              <a:t> USA.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tr-TR" sz="1200" dirty="0" err="1"/>
              <a:t>More</a:t>
            </a:r>
            <a:r>
              <a:rPr lang="tr-TR" sz="1200" dirty="0"/>
              <a:t> </a:t>
            </a:r>
            <a:r>
              <a:rPr lang="tr-TR" sz="1200" dirty="0" err="1"/>
              <a:t>than</a:t>
            </a:r>
            <a:r>
              <a:rPr lang="tr-TR" sz="1200" dirty="0"/>
              <a:t> </a:t>
            </a:r>
            <a:r>
              <a:rPr lang="tr-TR" sz="1200" b="1" dirty="0">
                <a:solidFill>
                  <a:srgbClr val="ED8428"/>
                </a:solidFill>
              </a:rPr>
              <a:t>45% </a:t>
            </a:r>
            <a:r>
              <a:rPr lang="tr-TR" sz="1200" dirty="0"/>
              <a:t>of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respondents</a:t>
            </a:r>
            <a:r>
              <a:rPr lang="tr-TR" sz="1200" dirty="0"/>
              <a:t> </a:t>
            </a:r>
            <a:r>
              <a:rPr lang="tr-TR" sz="1200" dirty="0" err="1"/>
              <a:t>are</a:t>
            </a:r>
            <a:r>
              <a:rPr lang="tr-TR" sz="1200" dirty="0"/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bachelor’s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degree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dirty="0" err="1"/>
              <a:t>holders</a:t>
            </a:r>
            <a:r>
              <a:rPr lang="tr-TR" sz="1200" dirty="0"/>
              <a:t>, </a:t>
            </a:r>
            <a:r>
              <a:rPr lang="tr-TR" sz="1200" b="1" dirty="0" err="1"/>
              <a:t>EXCLUDING</a:t>
            </a:r>
            <a:r>
              <a:rPr lang="tr-TR" sz="1200" dirty="0"/>
              <a:t> </a:t>
            </a:r>
            <a:r>
              <a:rPr lang="tr-TR" sz="1200" dirty="0" err="1"/>
              <a:t>no-answers</a:t>
            </a:r>
            <a:r>
              <a:rPr lang="tr-TR" sz="1200" dirty="0"/>
              <a:t>. </a:t>
            </a:r>
            <a:r>
              <a:rPr lang="tr-TR" sz="700" dirty="0"/>
              <a:t>(</a:t>
            </a:r>
            <a:r>
              <a:rPr lang="tr-TR" sz="700" dirty="0" err="1"/>
              <a:t>Appendix</a:t>
            </a:r>
            <a:r>
              <a:rPr lang="tr-TR" sz="700" dirty="0"/>
              <a:t> </a:t>
            </a:r>
            <a:r>
              <a:rPr lang="tr-TR" sz="700" dirty="0" err="1"/>
              <a:t>for</a:t>
            </a:r>
            <a:r>
              <a:rPr lang="tr-TR" sz="700" dirty="0"/>
              <a:t> «</a:t>
            </a:r>
            <a:r>
              <a:rPr lang="tr-TR" sz="700" dirty="0" err="1"/>
              <a:t>Employment</a:t>
            </a:r>
            <a:r>
              <a:rPr lang="tr-TR" sz="700" dirty="0"/>
              <a:t> </a:t>
            </a:r>
            <a:r>
              <a:rPr lang="tr-TR" sz="700" dirty="0" err="1"/>
              <a:t>vs</a:t>
            </a:r>
            <a:r>
              <a:rPr lang="tr-TR" sz="700" dirty="0"/>
              <a:t> </a:t>
            </a:r>
            <a:r>
              <a:rPr lang="tr-TR" sz="700" dirty="0" err="1"/>
              <a:t>Education</a:t>
            </a:r>
            <a:r>
              <a:rPr lang="tr-TR" sz="700" dirty="0"/>
              <a:t> Level» </a:t>
            </a:r>
            <a:r>
              <a:rPr lang="tr-TR" sz="700" dirty="0" err="1"/>
              <a:t>graph</a:t>
            </a:r>
            <a:r>
              <a:rPr lang="tr-TR" sz="700" dirty="0"/>
              <a:t>) </a:t>
            </a:r>
          </a:p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tr-TR" sz="1200" dirty="0"/>
              <a:t>25-34 </a:t>
            </a:r>
            <a:r>
              <a:rPr lang="tr-TR" sz="1200" dirty="0" err="1"/>
              <a:t>year-olds</a:t>
            </a:r>
            <a:r>
              <a:rPr lang="tr-TR" sz="1200" dirty="0"/>
              <a:t> </a:t>
            </a:r>
            <a:r>
              <a:rPr lang="tr-TR" sz="1200" dirty="0" err="1"/>
              <a:t>have</a:t>
            </a:r>
            <a:r>
              <a:rPr lang="tr-TR" sz="1200" dirty="0"/>
              <a:t> </a:t>
            </a:r>
            <a:r>
              <a:rPr lang="tr-TR" sz="1200" dirty="0" err="1"/>
              <a:t>more</a:t>
            </a:r>
            <a:r>
              <a:rPr lang="tr-TR" sz="1200" dirty="0"/>
              <a:t> </a:t>
            </a:r>
            <a:r>
              <a:rPr lang="tr-TR" sz="1200" dirty="0" err="1"/>
              <a:t>bachelor’s</a:t>
            </a:r>
            <a:r>
              <a:rPr lang="tr-TR" sz="1200" dirty="0"/>
              <a:t> </a:t>
            </a:r>
            <a:r>
              <a:rPr lang="tr-TR" sz="1200" dirty="0" err="1"/>
              <a:t>degree</a:t>
            </a:r>
            <a:r>
              <a:rPr lang="tr-TR" sz="1200" dirty="0"/>
              <a:t> </a:t>
            </a:r>
            <a:r>
              <a:rPr lang="tr-TR" sz="1200" dirty="0" err="1"/>
              <a:t>holders</a:t>
            </a:r>
            <a:r>
              <a:rPr lang="tr-TR" sz="1200" dirty="0"/>
              <a:t> </a:t>
            </a:r>
            <a:r>
              <a:rPr lang="tr-TR" sz="1200" dirty="0" err="1"/>
              <a:t>than</a:t>
            </a:r>
            <a:r>
              <a:rPr lang="tr-TR" sz="1200" dirty="0"/>
              <a:t> </a:t>
            </a:r>
            <a:r>
              <a:rPr lang="tr-TR" sz="1200" dirty="0" err="1"/>
              <a:t>any</a:t>
            </a:r>
            <a:r>
              <a:rPr lang="tr-TR" sz="1200" dirty="0"/>
              <a:t> </a:t>
            </a:r>
            <a:r>
              <a:rPr lang="tr-TR" sz="1200" dirty="0" err="1"/>
              <a:t>other</a:t>
            </a:r>
            <a:r>
              <a:rPr lang="tr-TR" sz="1200" dirty="0"/>
              <a:t> </a:t>
            </a:r>
            <a:r>
              <a:rPr lang="tr-TR" sz="1200" dirty="0" err="1"/>
              <a:t>age</a:t>
            </a:r>
            <a:r>
              <a:rPr lang="tr-TR" sz="1200" dirty="0"/>
              <a:t> </a:t>
            </a:r>
            <a:r>
              <a:rPr lang="tr-TR" sz="1200" dirty="0" err="1"/>
              <a:t>group</a:t>
            </a:r>
            <a:r>
              <a:rPr lang="tr-TR" sz="1200" dirty="0"/>
              <a:t> </a:t>
            </a:r>
            <a:r>
              <a:rPr lang="tr-TR" sz="1200" dirty="0" err="1"/>
              <a:t>both</a:t>
            </a:r>
            <a:r>
              <a:rPr lang="tr-TR" sz="1200" dirty="0"/>
              <a:t> </a:t>
            </a:r>
            <a:r>
              <a:rPr lang="tr-TR" sz="1200" dirty="0" err="1"/>
              <a:t>by</a:t>
            </a:r>
            <a:r>
              <a:rPr lang="tr-TR" sz="1200" dirty="0"/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quantity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and</a:t>
            </a:r>
            <a:r>
              <a:rPr lang="tr-TR" sz="1200" b="1" dirty="0">
                <a:solidFill>
                  <a:srgbClr val="ED8428"/>
                </a:solidFill>
              </a:rPr>
              <a:t> rate.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8C6FC-4DD4-607A-DCBA-2CB91A57C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88E5-0599-03DD-A33F-68FAE3740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tr-TR" noProof="0" dirty="0" err="1"/>
              <a:t>Yearly</a:t>
            </a:r>
            <a:r>
              <a:rPr lang="tr-TR" noProof="0" dirty="0"/>
              <a:t> </a:t>
            </a:r>
            <a:r>
              <a:rPr lang="tr-TR" noProof="0" dirty="0" err="1"/>
              <a:t>Compensation</a:t>
            </a:r>
            <a:r>
              <a:rPr lang="tr-TR" noProof="0" dirty="0"/>
              <a:t> – </a:t>
            </a:r>
            <a:r>
              <a:rPr lang="tr-TR" noProof="0" dirty="0" err="1"/>
              <a:t>Job</a:t>
            </a:r>
            <a:r>
              <a:rPr lang="tr-TR" noProof="0" dirty="0"/>
              <a:t> </a:t>
            </a:r>
            <a:r>
              <a:rPr lang="tr-TR" noProof="0" dirty="0" err="1"/>
              <a:t>Satisfaction</a:t>
            </a:r>
            <a:endParaRPr lang="en-US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E833D8-58F5-4D36-6D94-A3328DA1865C}"/>
              </a:ext>
            </a:extLst>
          </p:cNvPr>
          <p:cNvSpPr txBox="1"/>
          <p:nvPr/>
        </p:nvSpPr>
        <p:spPr>
          <a:xfrm>
            <a:off x="8382000" y="1828800"/>
            <a:ext cx="3219468" cy="2646878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solidFill>
              <a:srgbClr val="FFA5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As with the job satisfaction, annual compensation also fluctuates considerably for respondents with more than </a:t>
            </a:r>
            <a:r>
              <a:rPr lang="en-US" sz="1200" b="1" dirty="0">
                <a:solidFill>
                  <a:srgbClr val="ED8428"/>
                </a:solidFill>
              </a:rPr>
              <a:t>32 years of work experience</a:t>
            </a:r>
            <a:r>
              <a:rPr lang="tr-TR" sz="1200" b="1" dirty="0">
                <a:solidFill>
                  <a:srgbClr val="ED8428"/>
                </a:solidFill>
              </a:rPr>
              <a:t>.</a:t>
            </a:r>
            <a:endParaRPr lang="tr-TR" sz="12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More than half of the coders participating in the survey did not provide an answer for the questions about </a:t>
            </a:r>
            <a:r>
              <a:rPr lang="en-US" sz="1200" b="1" dirty="0">
                <a:solidFill>
                  <a:srgbClr val="ED8428"/>
                </a:solidFill>
              </a:rPr>
              <a:t>“Job Satisfaction” </a:t>
            </a:r>
            <a:r>
              <a:rPr lang="en-US" sz="1200" dirty="0"/>
              <a:t>and </a:t>
            </a:r>
            <a:r>
              <a:rPr lang="en-US" sz="1200" b="1" dirty="0">
                <a:solidFill>
                  <a:srgbClr val="ED8428"/>
                </a:solidFill>
              </a:rPr>
              <a:t>“Yearly Compensation” </a:t>
            </a:r>
            <a:r>
              <a:rPr lang="en-US" sz="1200" dirty="0"/>
              <a:t>as well as AI related ones.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The correlation between the </a:t>
            </a:r>
            <a:r>
              <a:rPr lang="en-US" sz="1200" b="1" dirty="0">
                <a:solidFill>
                  <a:srgbClr val="ED8428"/>
                </a:solidFill>
              </a:rPr>
              <a:t>annual compensation </a:t>
            </a:r>
            <a:r>
              <a:rPr lang="en-US" sz="1200" dirty="0"/>
              <a:t>and </a:t>
            </a:r>
            <a:r>
              <a:rPr lang="en-US" sz="1200" b="1" dirty="0">
                <a:solidFill>
                  <a:srgbClr val="ED8428"/>
                </a:solidFill>
              </a:rPr>
              <a:t>job satisfaction </a:t>
            </a:r>
            <a:r>
              <a:rPr lang="en-US" sz="1200" dirty="0"/>
              <a:t>is positive but moderate.</a:t>
            </a:r>
            <a:endParaRPr lang="tr-TR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01FE6E-41EF-6602-BBCA-CB293A5D2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78" y="3901317"/>
            <a:ext cx="3980122" cy="24232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B30169-DE47-9E22-B298-473696CBA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78" y="1627054"/>
            <a:ext cx="3474720" cy="2279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E100C6-6E8B-CFEC-FF58-6A1B3CBAB6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322" y="1621738"/>
            <a:ext cx="3474720" cy="22795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DAC92A-6044-DFF8-FCA4-044EDFBC47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6689" y="3933242"/>
            <a:ext cx="3485353" cy="22423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2357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785EC-E87E-3253-EDD6-8592CEF63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F2C9A-457C-1BAF-B4B4-23DFE6FD4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tr-TR" noProof="0" dirty="0" err="1"/>
              <a:t>Yearly</a:t>
            </a:r>
            <a:r>
              <a:rPr lang="tr-TR" noProof="0" dirty="0"/>
              <a:t> </a:t>
            </a:r>
            <a:r>
              <a:rPr lang="tr-TR" noProof="0" dirty="0" err="1"/>
              <a:t>Compensation</a:t>
            </a:r>
            <a:endParaRPr lang="en-US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C991BF-0C4A-6BA0-C285-7EC8867C5A5C}"/>
              </a:ext>
            </a:extLst>
          </p:cNvPr>
          <p:cNvSpPr txBox="1"/>
          <p:nvPr/>
        </p:nvSpPr>
        <p:spPr>
          <a:xfrm>
            <a:off x="1066800" y="5029200"/>
            <a:ext cx="10515600" cy="1284967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solidFill>
              <a:srgbClr val="FFA5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50" dirty="0"/>
              <a:t>The highest and </a:t>
            </a:r>
            <a:r>
              <a:rPr lang="tr-TR" sz="1350" dirty="0" err="1"/>
              <a:t>narrowest</a:t>
            </a:r>
            <a:r>
              <a:rPr lang="en-US" sz="1350" dirty="0"/>
              <a:t> yearly compensation comes from the respondents who do not provide their age, EXCLUDING outliers.</a:t>
            </a:r>
            <a:endParaRPr lang="tr-TR" sz="135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50" dirty="0"/>
              <a:t>Yearly Compensation data is </a:t>
            </a:r>
            <a:r>
              <a:rPr lang="en-US" sz="1200" b="1" dirty="0">
                <a:solidFill>
                  <a:srgbClr val="ED8428"/>
                </a:solidFill>
              </a:rPr>
              <a:t>right-skewed</a:t>
            </a:r>
            <a:r>
              <a:rPr lang="en-US" sz="1350" dirty="0"/>
              <a:t>, but there is a peak of nearly </a:t>
            </a:r>
            <a:r>
              <a:rPr lang="en-US" sz="1200" b="1" dirty="0">
                <a:solidFill>
                  <a:srgbClr val="ED8428"/>
                </a:solidFill>
              </a:rPr>
              <a:t>2500 respondents </a:t>
            </a:r>
            <a:r>
              <a:rPr lang="en-US" sz="1350" dirty="0"/>
              <a:t>with </a:t>
            </a:r>
            <a:r>
              <a:rPr lang="en-US" sz="1200" b="1" dirty="0">
                <a:solidFill>
                  <a:srgbClr val="ED8428"/>
                </a:solidFill>
              </a:rPr>
              <a:t>10000 dollars or less</a:t>
            </a:r>
            <a:r>
              <a:rPr lang="en-US" sz="1350" dirty="0"/>
              <a:t> annual income. Nearly </a:t>
            </a:r>
            <a:r>
              <a:rPr lang="en-US" sz="1200" b="1" dirty="0">
                <a:solidFill>
                  <a:srgbClr val="ED8428"/>
                </a:solidFill>
              </a:rPr>
              <a:t>80%</a:t>
            </a:r>
            <a:r>
              <a:rPr lang="en-US" sz="1350" dirty="0"/>
              <a:t> of those are between </a:t>
            </a:r>
            <a:r>
              <a:rPr lang="en-US" sz="1200" b="1" dirty="0">
                <a:solidFill>
                  <a:srgbClr val="ED8428"/>
                </a:solidFill>
              </a:rPr>
              <a:t>18-34 years old</a:t>
            </a:r>
            <a:r>
              <a:rPr lang="en-US" sz="1350" dirty="0"/>
              <a:t>.</a:t>
            </a:r>
            <a:endParaRPr lang="tr-TR" sz="135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50" dirty="0"/>
              <a:t>Total compensation seems to be almost </a:t>
            </a:r>
            <a:r>
              <a:rPr lang="en-US" sz="1200" b="1" dirty="0">
                <a:solidFill>
                  <a:srgbClr val="ED8428"/>
                </a:solidFill>
              </a:rPr>
              <a:t>linearly and positively correlated </a:t>
            </a:r>
            <a:r>
              <a:rPr lang="en-US" sz="1350" dirty="0"/>
              <a:t>with age and work experience, except that the increase halts and reverts to decrease </a:t>
            </a:r>
            <a:r>
              <a:rPr lang="en-US" sz="1200" b="1" dirty="0">
                <a:solidFill>
                  <a:srgbClr val="ED8428"/>
                </a:solidFill>
              </a:rPr>
              <a:t>after the age of 65</a:t>
            </a:r>
            <a:r>
              <a:rPr lang="en-US" sz="1350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885B66-9C38-D5DE-5A37-A256339E3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76400"/>
            <a:ext cx="3733800" cy="33036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7C6E28-2C3E-90ED-95F2-01D16FE92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676400"/>
            <a:ext cx="3505200" cy="33036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F4661FF-82D9-EBEB-AB00-0E378D400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372" y="1418166"/>
            <a:ext cx="3733800" cy="35348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73420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D626B-5A41-4E67-5420-21AB6A557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CF051-B1F3-56D2-906C-5715707F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tr-TR" noProof="0" dirty="0" err="1"/>
              <a:t>Job</a:t>
            </a:r>
            <a:r>
              <a:rPr lang="tr-TR" noProof="0" dirty="0"/>
              <a:t> </a:t>
            </a:r>
            <a:r>
              <a:rPr lang="tr-TR" noProof="0" dirty="0" err="1"/>
              <a:t>Satisfaction</a:t>
            </a:r>
            <a:endParaRPr lang="en-US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04F697-2F17-CFD3-B1BC-FF800F1F30E7}"/>
              </a:ext>
            </a:extLst>
          </p:cNvPr>
          <p:cNvSpPr txBox="1"/>
          <p:nvPr/>
        </p:nvSpPr>
        <p:spPr>
          <a:xfrm>
            <a:off x="1066800" y="4701823"/>
            <a:ext cx="10515600" cy="1569660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solidFill>
              <a:srgbClr val="FFA5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r-TR" sz="1350" dirty="0" err="1"/>
              <a:t>Job</a:t>
            </a:r>
            <a:r>
              <a:rPr lang="tr-TR" sz="1350" dirty="0"/>
              <a:t> </a:t>
            </a:r>
            <a:r>
              <a:rPr lang="tr-TR" sz="1350" dirty="0" err="1"/>
              <a:t>satisfaction</a:t>
            </a:r>
            <a:r>
              <a:rPr lang="tr-TR" sz="1350" dirty="0"/>
              <a:t> </a:t>
            </a:r>
            <a:r>
              <a:rPr lang="tr-TR" sz="1350" dirty="0" err="1"/>
              <a:t>mean</a:t>
            </a:r>
            <a:r>
              <a:rPr lang="tr-TR" sz="1350" dirty="0"/>
              <a:t> is </a:t>
            </a:r>
            <a:r>
              <a:rPr lang="tr-TR" sz="1200" b="1" dirty="0">
                <a:solidFill>
                  <a:srgbClr val="ED8428"/>
                </a:solidFill>
              </a:rPr>
              <a:t>8 </a:t>
            </a:r>
            <a:r>
              <a:rPr lang="tr-TR" sz="1200" b="1" dirty="0" err="1">
                <a:solidFill>
                  <a:srgbClr val="ED8428"/>
                </a:solidFill>
              </a:rPr>
              <a:t>over</a:t>
            </a:r>
            <a:r>
              <a:rPr lang="tr-TR" sz="1200" b="1" dirty="0">
                <a:solidFill>
                  <a:srgbClr val="ED8428"/>
                </a:solidFill>
              </a:rPr>
              <a:t> 10</a:t>
            </a:r>
            <a:r>
              <a:rPr lang="tr-TR" sz="1350" dirty="0"/>
              <a:t>. </a:t>
            </a:r>
            <a:r>
              <a:rPr lang="tr-TR" sz="1350" dirty="0" err="1"/>
              <a:t>This</a:t>
            </a:r>
            <a:r>
              <a:rPr lang="tr-TR" sz="1350" dirty="0"/>
              <a:t> is </a:t>
            </a:r>
            <a:r>
              <a:rPr lang="tr-TR" sz="1350" dirty="0" err="1"/>
              <a:t>mainly</a:t>
            </a:r>
            <a:r>
              <a:rPr lang="tr-TR" sz="1350" dirty="0"/>
              <a:t> </a:t>
            </a:r>
            <a:r>
              <a:rPr lang="tr-TR" sz="1350" dirty="0" err="1"/>
              <a:t>the</a:t>
            </a:r>
            <a:r>
              <a:rPr lang="tr-TR" sz="1350" dirty="0"/>
              <a:t> </a:t>
            </a:r>
            <a:r>
              <a:rPr lang="tr-TR" sz="1350" dirty="0" err="1"/>
              <a:t>result</a:t>
            </a:r>
            <a:r>
              <a:rPr lang="tr-TR" sz="1350" dirty="0"/>
              <a:t> of </a:t>
            </a:r>
            <a:r>
              <a:rPr lang="tr-TR" sz="1200" b="1" dirty="0" err="1">
                <a:solidFill>
                  <a:srgbClr val="ED8428"/>
                </a:solidFill>
              </a:rPr>
              <a:t>the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unemployed</a:t>
            </a:r>
            <a:r>
              <a:rPr lang="tr-TR" sz="1350" dirty="0"/>
              <a:t> </a:t>
            </a:r>
            <a:r>
              <a:rPr lang="tr-TR" sz="1350" dirty="0" err="1"/>
              <a:t>and</a:t>
            </a:r>
            <a:r>
              <a:rPr lang="tr-TR" sz="1350" dirty="0"/>
              <a:t> </a:t>
            </a:r>
            <a:r>
              <a:rPr lang="tr-TR" sz="1350" dirty="0" err="1"/>
              <a:t>the</a:t>
            </a:r>
            <a:r>
              <a:rPr lang="tr-TR" sz="1350" dirty="0"/>
              <a:t> </a:t>
            </a:r>
            <a:r>
              <a:rPr lang="tr-TR" sz="1350" dirty="0" err="1"/>
              <a:t>ones</a:t>
            </a:r>
            <a:r>
              <a:rPr lang="tr-TR" sz="1350" dirty="0"/>
              <a:t> </a:t>
            </a:r>
            <a:r>
              <a:rPr lang="tr-TR" sz="1350" dirty="0" err="1"/>
              <a:t>with</a:t>
            </a:r>
            <a:r>
              <a:rPr lang="tr-TR" sz="1350" dirty="0"/>
              <a:t> </a:t>
            </a:r>
            <a:r>
              <a:rPr lang="tr-TR" sz="1350" dirty="0" err="1"/>
              <a:t>the</a:t>
            </a:r>
            <a:r>
              <a:rPr lang="tr-TR" sz="1350" dirty="0"/>
              <a:t> </a:t>
            </a:r>
            <a:r>
              <a:rPr lang="tr-TR" sz="1200" b="1" dirty="0">
                <a:solidFill>
                  <a:srgbClr val="ED8428"/>
                </a:solidFill>
              </a:rPr>
              <a:t>20 </a:t>
            </a:r>
            <a:r>
              <a:rPr lang="tr-TR" sz="1200" b="1" dirty="0" err="1">
                <a:solidFill>
                  <a:srgbClr val="ED8428"/>
                </a:solidFill>
              </a:rPr>
              <a:t>years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or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more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work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experience</a:t>
            </a:r>
            <a:r>
              <a:rPr lang="tr-TR" sz="1200" b="1" dirty="0">
                <a:solidFill>
                  <a:srgbClr val="ED8428"/>
                </a:solidFill>
              </a:rPr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50" dirty="0"/>
              <a:t>Job satisfaction average is at its highest (slightly more than 25 over 100) for the respondents of </a:t>
            </a:r>
            <a:r>
              <a:rPr lang="en-US" sz="1200" b="1" dirty="0">
                <a:solidFill>
                  <a:srgbClr val="ED8428"/>
                </a:solidFill>
              </a:rPr>
              <a:t>18-34 years old.</a:t>
            </a:r>
            <a:endParaRPr lang="tr-TR" sz="1200" b="1" dirty="0">
              <a:solidFill>
                <a:srgbClr val="ED8428"/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50" dirty="0"/>
              <a:t>Job satisfaction is at its low ebb (around 15%) for respondents who indicated Julia and at its peak (around 28%) for respondents who indicated Solidity as languages to work with.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50" dirty="0"/>
              <a:t>Respondents with the most job satisfaction levels use Raven DB database and/or Gatsby web frame, while some others with the least job satisfaction levels use Couch DB database and/or Django web frame.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27AB40-3E1A-838E-890A-09802DB41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524001"/>
            <a:ext cx="3733800" cy="29134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0DBBA7-6F38-AA83-0046-3A22BD858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28" y="1524408"/>
            <a:ext cx="3733800" cy="28951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605352-7384-111E-1C57-FB7B1E5CD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307" y="1520505"/>
            <a:ext cx="4210493" cy="306988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5898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 flipH="1">
            <a:off x="9829797" y="0"/>
            <a:ext cx="1600202" cy="1600202"/>
          </a:xfrm>
          <a:prstGeom prst="rect">
            <a:avLst/>
          </a:prstGeom>
          <a:noFill/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693B23E-70FB-CCD4-1116-D39ED20F3676}"/>
              </a:ext>
            </a:extLst>
          </p:cNvPr>
          <p:cNvSpPr/>
          <p:nvPr/>
        </p:nvSpPr>
        <p:spPr>
          <a:xfrm>
            <a:off x="838200" y="1450261"/>
            <a:ext cx="8763000" cy="430560"/>
          </a:xfrm>
          <a:custGeom>
            <a:avLst/>
            <a:gdLst>
              <a:gd name="csX0" fmla="*/ 0 w 8763000"/>
              <a:gd name="csY0" fmla="*/ 71761 h 430560"/>
              <a:gd name="csX1" fmla="*/ 71761 w 8763000"/>
              <a:gd name="csY1" fmla="*/ 0 h 430560"/>
              <a:gd name="csX2" fmla="*/ 8691239 w 8763000"/>
              <a:gd name="csY2" fmla="*/ 0 h 430560"/>
              <a:gd name="csX3" fmla="*/ 8763000 w 8763000"/>
              <a:gd name="csY3" fmla="*/ 71761 h 430560"/>
              <a:gd name="csX4" fmla="*/ 8763000 w 8763000"/>
              <a:gd name="csY4" fmla="*/ 358799 h 430560"/>
              <a:gd name="csX5" fmla="*/ 8691239 w 8763000"/>
              <a:gd name="csY5" fmla="*/ 430560 h 430560"/>
              <a:gd name="csX6" fmla="*/ 71761 w 8763000"/>
              <a:gd name="csY6" fmla="*/ 430560 h 430560"/>
              <a:gd name="csX7" fmla="*/ 0 w 8763000"/>
              <a:gd name="csY7" fmla="*/ 358799 h 430560"/>
              <a:gd name="csX8" fmla="*/ 0 w 8763000"/>
              <a:gd name="csY8" fmla="*/ 71761 h 430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63000" h="430560">
                <a:moveTo>
                  <a:pt x="0" y="71761"/>
                </a:moveTo>
                <a:cubicBezTo>
                  <a:pt x="0" y="32128"/>
                  <a:pt x="32128" y="0"/>
                  <a:pt x="71761" y="0"/>
                </a:cubicBezTo>
                <a:lnTo>
                  <a:pt x="8691239" y="0"/>
                </a:lnTo>
                <a:cubicBezTo>
                  <a:pt x="8730872" y="0"/>
                  <a:pt x="8763000" y="32128"/>
                  <a:pt x="8763000" y="71761"/>
                </a:cubicBezTo>
                <a:lnTo>
                  <a:pt x="8763000" y="358799"/>
                </a:lnTo>
                <a:cubicBezTo>
                  <a:pt x="8763000" y="398432"/>
                  <a:pt x="8730872" y="430560"/>
                  <a:pt x="8691239" y="430560"/>
                </a:cubicBezTo>
                <a:lnTo>
                  <a:pt x="71761" y="430560"/>
                </a:lnTo>
                <a:cubicBezTo>
                  <a:pt x="32128" y="430560"/>
                  <a:pt x="0" y="398432"/>
                  <a:pt x="0" y="358799"/>
                </a:cubicBezTo>
                <a:lnTo>
                  <a:pt x="0" y="71761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1978" tIns="81978" rIns="81978" bIns="81978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600" kern="1200" dirty="0" err="1"/>
              <a:t>Jobs</a:t>
            </a:r>
            <a:r>
              <a:rPr lang="tr-TR" sz="1600" kern="1200" dirty="0"/>
              <a:t> </a:t>
            </a:r>
            <a:r>
              <a:rPr lang="tr-TR" sz="1600" kern="1200" dirty="0" err="1"/>
              <a:t>quantity</a:t>
            </a:r>
            <a:r>
              <a:rPr lang="tr-TR" sz="1600" kern="1200" dirty="0"/>
              <a:t> in </a:t>
            </a:r>
            <a:r>
              <a:rPr lang="tr-TR" sz="1600" b="0" kern="1200" dirty="0"/>
              <a:t>Washington DC </a:t>
            </a:r>
            <a:r>
              <a:rPr lang="tr-TR" sz="1600" kern="1200" dirty="0"/>
              <a:t>is </a:t>
            </a:r>
            <a:r>
              <a:rPr lang="tr-TR" sz="1600" b="1" kern="1200" dirty="0"/>
              <a:t>65%</a:t>
            </a:r>
            <a:r>
              <a:rPr lang="tr-TR" sz="1600" kern="1200" dirty="0"/>
              <a:t> </a:t>
            </a:r>
            <a:r>
              <a:rPr lang="tr-TR" sz="1600" kern="1200" dirty="0" err="1"/>
              <a:t>more</a:t>
            </a:r>
            <a:r>
              <a:rPr lang="tr-TR" sz="1600" kern="1200" dirty="0"/>
              <a:t> </a:t>
            </a:r>
            <a:r>
              <a:rPr lang="tr-TR" sz="1600" kern="1200" dirty="0" err="1"/>
              <a:t>than</a:t>
            </a:r>
            <a:r>
              <a:rPr lang="tr-TR" sz="1600" kern="1200" dirty="0"/>
              <a:t> </a:t>
            </a:r>
            <a:r>
              <a:rPr lang="tr-TR" sz="1600" kern="1200" dirty="0" err="1"/>
              <a:t>that</a:t>
            </a:r>
            <a:r>
              <a:rPr lang="tr-TR" sz="1600" kern="1200" dirty="0"/>
              <a:t> in </a:t>
            </a:r>
            <a:r>
              <a:rPr lang="tr-TR" sz="1600" b="0" kern="1200" dirty="0"/>
              <a:t>New York…</a:t>
            </a:r>
            <a:endParaRPr lang="en-US" sz="1600" b="0" kern="12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E2D8CF5-A5E3-9B55-EFE1-CD29C7CE0EAC}"/>
              </a:ext>
            </a:extLst>
          </p:cNvPr>
          <p:cNvSpPr/>
          <p:nvPr/>
        </p:nvSpPr>
        <p:spPr>
          <a:xfrm>
            <a:off x="838200" y="1880821"/>
            <a:ext cx="8763000" cy="380880"/>
          </a:xfrm>
          <a:custGeom>
            <a:avLst/>
            <a:gdLst>
              <a:gd name="csX0" fmla="*/ 0 w 8763000"/>
              <a:gd name="csY0" fmla="*/ 0 h 380880"/>
              <a:gd name="csX1" fmla="*/ 8763000 w 8763000"/>
              <a:gd name="csY1" fmla="*/ 0 h 380880"/>
              <a:gd name="csX2" fmla="*/ 8763000 w 8763000"/>
              <a:gd name="csY2" fmla="*/ 380880 h 380880"/>
              <a:gd name="csX3" fmla="*/ 0 w 8763000"/>
              <a:gd name="csY3" fmla="*/ 380880 h 380880"/>
              <a:gd name="csX4" fmla="*/ 0 w 8763000"/>
              <a:gd name="csY4" fmla="*/ 0 h 380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63000" h="380880">
                <a:moveTo>
                  <a:pt x="0" y="0"/>
                </a:moveTo>
                <a:lnTo>
                  <a:pt x="8763000" y="0"/>
                </a:lnTo>
                <a:lnTo>
                  <a:pt x="87630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8225" tIns="20320" rIns="113792" bIns="20320" numCol="1" spcCol="1270" anchor="t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tr-TR" sz="1600" u="sng" kern="1200" dirty="0"/>
              <a:t>…</a:t>
            </a:r>
            <a:r>
              <a:rPr lang="tr-TR" sz="1600" u="sng" kern="1200" dirty="0" err="1"/>
              <a:t>THOUGH</a:t>
            </a:r>
            <a:r>
              <a:rPr lang="tr-TR" sz="1600" u="sng" kern="1200" dirty="0"/>
              <a:t>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latter</a:t>
            </a:r>
            <a:r>
              <a:rPr lang="tr-TR" sz="1600" kern="1200" dirty="0"/>
              <a:t> is </a:t>
            </a:r>
            <a:r>
              <a:rPr lang="tr-TR" sz="1600" b="1" kern="1200" dirty="0"/>
              <a:t>two </a:t>
            </a:r>
            <a:r>
              <a:rPr lang="tr-TR" sz="1600" b="1" kern="1200" dirty="0" err="1"/>
              <a:t>and</a:t>
            </a:r>
            <a:r>
              <a:rPr lang="tr-TR" sz="1600" b="1" kern="1200" dirty="0"/>
              <a:t> a </a:t>
            </a:r>
            <a:r>
              <a:rPr lang="tr-TR" sz="1600" b="1" kern="1200" dirty="0" err="1"/>
              <a:t>half</a:t>
            </a:r>
            <a:r>
              <a:rPr lang="tr-TR" sz="1600" b="1" kern="1200" dirty="0"/>
              <a:t> </a:t>
            </a:r>
            <a:r>
              <a:rPr lang="tr-TR" sz="1600" b="1" kern="1200" dirty="0" err="1"/>
              <a:t>fold</a:t>
            </a:r>
            <a:r>
              <a:rPr lang="tr-TR" sz="1600" kern="1200" dirty="0"/>
              <a:t> </a:t>
            </a:r>
            <a:r>
              <a:rPr lang="tr-TR" sz="1600" kern="1200" dirty="0" err="1"/>
              <a:t>more</a:t>
            </a:r>
            <a:r>
              <a:rPr lang="tr-TR" sz="1600" kern="1200" dirty="0"/>
              <a:t> </a:t>
            </a:r>
            <a:r>
              <a:rPr lang="tr-TR" sz="1600" kern="1200" dirty="0" err="1"/>
              <a:t>populated</a:t>
            </a:r>
            <a:r>
              <a:rPr lang="tr-TR" sz="1600" kern="1200" dirty="0"/>
              <a:t> </a:t>
            </a:r>
            <a:r>
              <a:rPr lang="tr-TR" sz="1600" kern="1200" dirty="0" err="1"/>
              <a:t>than</a:t>
            </a:r>
            <a:r>
              <a:rPr lang="tr-TR" sz="1600" kern="1200" dirty="0"/>
              <a:t>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former</a:t>
            </a:r>
            <a:r>
              <a:rPr lang="tr-TR" sz="1600" kern="1200" dirty="0"/>
              <a:t>.</a:t>
            </a:r>
            <a:endParaRPr lang="en-US" sz="1600" kern="12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946BC74-7FAF-C99C-3681-40C182D3BE1C}"/>
              </a:ext>
            </a:extLst>
          </p:cNvPr>
          <p:cNvSpPr/>
          <p:nvPr/>
        </p:nvSpPr>
        <p:spPr>
          <a:xfrm>
            <a:off x="838200" y="2261701"/>
            <a:ext cx="8763000" cy="430560"/>
          </a:xfrm>
          <a:custGeom>
            <a:avLst/>
            <a:gdLst>
              <a:gd name="csX0" fmla="*/ 0 w 8763000"/>
              <a:gd name="csY0" fmla="*/ 71761 h 430560"/>
              <a:gd name="csX1" fmla="*/ 71761 w 8763000"/>
              <a:gd name="csY1" fmla="*/ 0 h 430560"/>
              <a:gd name="csX2" fmla="*/ 8691239 w 8763000"/>
              <a:gd name="csY2" fmla="*/ 0 h 430560"/>
              <a:gd name="csX3" fmla="*/ 8763000 w 8763000"/>
              <a:gd name="csY3" fmla="*/ 71761 h 430560"/>
              <a:gd name="csX4" fmla="*/ 8763000 w 8763000"/>
              <a:gd name="csY4" fmla="*/ 358799 h 430560"/>
              <a:gd name="csX5" fmla="*/ 8691239 w 8763000"/>
              <a:gd name="csY5" fmla="*/ 430560 h 430560"/>
              <a:gd name="csX6" fmla="*/ 71761 w 8763000"/>
              <a:gd name="csY6" fmla="*/ 430560 h 430560"/>
              <a:gd name="csX7" fmla="*/ 0 w 8763000"/>
              <a:gd name="csY7" fmla="*/ 358799 h 430560"/>
              <a:gd name="csX8" fmla="*/ 0 w 8763000"/>
              <a:gd name="csY8" fmla="*/ 71761 h 430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63000" h="430560">
                <a:moveTo>
                  <a:pt x="0" y="71761"/>
                </a:moveTo>
                <a:cubicBezTo>
                  <a:pt x="0" y="32128"/>
                  <a:pt x="32128" y="0"/>
                  <a:pt x="71761" y="0"/>
                </a:cubicBezTo>
                <a:lnTo>
                  <a:pt x="8691239" y="0"/>
                </a:lnTo>
                <a:cubicBezTo>
                  <a:pt x="8730872" y="0"/>
                  <a:pt x="8763000" y="32128"/>
                  <a:pt x="8763000" y="71761"/>
                </a:cubicBezTo>
                <a:lnTo>
                  <a:pt x="8763000" y="358799"/>
                </a:lnTo>
                <a:cubicBezTo>
                  <a:pt x="8763000" y="398432"/>
                  <a:pt x="8730872" y="430560"/>
                  <a:pt x="8691239" y="430560"/>
                </a:cubicBezTo>
                <a:lnTo>
                  <a:pt x="71761" y="430560"/>
                </a:lnTo>
                <a:cubicBezTo>
                  <a:pt x="32128" y="430560"/>
                  <a:pt x="0" y="398432"/>
                  <a:pt x="0" y="358799"/>
                </a:cubicBezTo>
                <a:lnTo>
                  <a:pt x="0" y="71761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1978" tIns="81978" rIns="81978" bIns="81978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600" b="1" kern="1200" dirty="0"/>
              <a:t>C++</a:t>
            </a:r>
            <a:r>
              <a:rPr lang="tr-TR" sz="1600" kern="1200" dirty="0"/>
              <a:t> is </a:t>
            </a:r>
            <a:r>
              <a:rPr lang="tr-TR" sz="1600" kern="1200" dirty="0" err="1"/>
              <a:t>one</a:t>
            </a:r>
            <a:r>
              <a:rPr lang="tr-TR" sz="1600" kern="1200" dirty="0"/>
              <a:t> of </a:t>
            </a:r>
            <a:r>
              <a:rPr lang="tr-TR" sz="1600" kern="1200" dirty="0" err="1"/>
              <a:t>four</a:t>
            </a:r>
            <a:r>
              <a:rPr lang="tr-TR" sz="1600" kern="1200" dirty="0"/>
              <a:t> </a:t>
            </a:r>
            <a:r>
              <a:rPr lang="tr-TR" sz="1600" kern="1200" dirty="0" err="1"/>
              <a:t>languages</a:t>
            </a:r>
            <a:r>
              <a:rPr lang="tr-TR" sz="1600" kern="1200" dirty="0"/>
              <a:t> </a:t>
            </a:r>
            <a:r>
              <a:rPr lang="tr-TR" sz="1600" kern="1200" dirty="0" err="1"/>
              <a:t>whose</a:t>
            </a:r>
            <a:r>
              <a:rPr lang="tr-TR" sz="1600" kern="1200" dirty="0"/>
              <a:t> </a:t>
            </a:r>
            <a:r>
              <a:rPr lang="tr-TR" sz="1600" kern="1200" dirty="0" err="1"/>
              <a:t>users</a:t>
            </a:r>
            <a:r>
              <a:rPr lang="tr-TR" sz="1600" kern="1200" dirty="0"/>
              <a:t> </a:t>
            </a:r>
            <a:r>
              <a:rPr lang="tr-TR" sz="1600" kern="1200" dirty="0" err="1"/>
              <a:t>earn</a:t>
            </a:r>
            <a:r>
              <a:rPr lang="tr-TR" sz="1600" kern="1200" dirty="0"/>
              <a:t> </a:t>
            </a:r>
            <a:r>
              <a:rPr lang="tr-TR" sz="1600" b="1" kern="1200" dirty="0" err="1"/>
              <a:t>more</a:t>
            </a:r>
            <a:r>
              <a:rPr lang="tr-TR" sz="1600" b="1" kern="1200" dirty="0"/>
              <a:t> </a:t>
            </a:r>
            <a:r>
              <a:rPr lang="tr-TR" sz="1600" b="1" kern="1200" dirty="0" err="1"/>
              <a:t>than</a:t>
            </a:r>
            <a:r>
              <a:rPr lang="tr-TR" sz="1600" b="1" kern="1200" dirty="0"/>
              <a:t> 100K</a:t>
            </a:r>
            <a:r>
              <a:rPr lang="tr-TR" sz="1600" kern="1200" dirty="0"/>
              <a:t> </a:t>
            </a:r>
            <a:r>
              <a:rPr lang="tr-TR" sz="1600" kern="1200" dirty="0" err="1"/>
              <a:t>annually</a:t>
            </a:r>
            <a:r>
              <a:rPr lang="tr-TR" sz="1600" kern="1200" dirty="0"/>
              <a:t>…</a:t>
            </a:r>
            <a:endParaRPr lang="en-US" sz="1600" kern="12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39E64BA-2C00-AA6E-EDB3-66D87C014E02}"/>
              </a:ext>
            </a:extLst>
          </p:cNvPr>
          <p:cNvSpPr/>
          <p:nvPr/>
        </p:nvSpPr>
        <p:spPr>
          <a:xfrm>
            <a:off x="838200" y="2692261"/>
            <a:ext cx="8763000" cy="380880"/>
          </a:xfrm>
          <a:custGeom>
            <a:avLst/>
            <a:gdLst>
              <a:gd name="csX0" fmla="*/ 0 w 8763000"/>
              <a:gd name="csY0" fmla="*/ 0 h 380880"/>
              <a:gd name="csX1" fmla="*/ 8763000 w 8763000"/>
              <a:gd name="csY1" fmla="*/ 0 h 380880"/>
              <a:gd name="csX2" fmla="*/ 8763000 w 8763000"/>
              <a:gd name="csY2" fmla="*/ 380880 h 380880"/>
              <a:gd name="csX3" fmla="*/ 0 w 8763000"/>
              <a:gd name="csY3" fmla="*/ 380880 h 380880"/>
              <a:gd name="csX4" fmla="*/ 0 w 8763000"/>
              <a:gd name="csY4" fmla="*/ 0 h 380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63000" h="380880">
                <a:moveTo>
                  <a:pt x="0" y="0"/>
                </a:moveTo>
                <a:lnTo>
                  <a:pt x="8763000" y="0"/>
                </a:lnTo>
                <a:lnTo>
                  <a:pt x="87630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8225" tIns="20320" rIns="113792" bIns="20320" numCol="1" spcCol="1270" anchor="t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tr-TR" sz="1600" u="sng" kern="1200" dirty="0"/>
              <a:t>…</a:t>
            </a:r>
            <a:r>
              <a:rPr lang="tr-TR" sz="1600" u="sng" kern="1200" dirty="0" err="1"/>
              <a:t>DESPITE</a:t>
            </a:r>
            <a:r>
              <a:rPr lang="tr-TR" sz="1600" kern="1200" dirty="0"/>
              <a:t> </a:t>
            </a:r>
            <a:r>
              <a:rPr lang="tr-TR" sz="1600" kern="1200" dirty="0" err="1"/>
              <a:t>its</a:t>
            </a:r>
            <a:r>
              <a:rPr lang="tr-TR" sz="1600" kern="1200" dirty="0"/>
              <a:t> </a:t>
            </a:r>
            <a:r>
              <a:rPr lang="tr-TR" sz="1600" kern="1200" dirty="0" err="1"/>
              <a:t>unpopularity</a:t>
            </a:r>
            <a:r>
              <a:rPr lang="tr-TR" sz="1600" kern="1200" dirty="0"/>
              <a:t>, </a:t>
            </a:r>
            <a:r>
              <a:rPr lang="tr-TR" sz="1600" b="1" kern="1200" dirty="0"/>
              <a:t>not </a:t>
            </a:r>
            <a:r>
              <a:rPr lang="tr-TR" sz="1600" b="1" kern="1200" dirty="0" err="1"/>
              <a:t>being</a:t>
            </a:r>
            <a:r>
              <a:rPr lang="tr-TR" sz="1600" b="1" kern="1200" dirty="0"/>
              <a:t> in top 10.</a:t>
            </a:r>
            <a:endParaRPr lang="en-US" sz="1600" b="1" kern="12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DA6227E-301B-9076-15CD-E2D954D8EDDA}"/>
              </a:ext>
            </a:extLst>
          </p:cNvPr>
          <p:cNvSpPr/>
          <p:nvPr/>
        </p:nvSpPr>
        <p:spPr>
          <a:xfrm>
            <a:off x="838200" y="3073141"/>
            <a:ext cx="8763000" cy="430560"/>
          </a:xfrm>
          <a:custGeom>
            <a:avLst/>
            <a:gdLst>
              <a:gd name="csX0" fmla="*/ 0 w 8763000"/>
              <a:gd name="csY0" fmla="*/ 71761 h 430560"/>
              <a:gd name="csX1" fmla="*/ 71761 w 8763000"/>
              <a:gd name="csY1" fmla="*/ 0 h 430560"/>
              <a:gd name="csX2" fmla="*/ 8691239 w 8763000"/>
              <a:gd name="csY2" fmla="*/ 0 h 430560"/>
              <a:gd name="csX3" fmla="*/ 8763000 w 8763000"/>
              <a:gd name="csY3" fmla="*/ 71761 h 430560"/>
              <a:gd name="csX4" fmla="*/ 8763000 w 8763000"/>
              <a:gd name="csY4" fmla="*/ 358799 h 430560"/>
              <a:gd name="csX5" fmla="*/ 8691239 w 8763000"/>
              <a:gd name="csY5" fmla="*/ 430560 h 430560"/>
              <a:gd name="csX6" fmla="*/ 71761 w 8763000"/>
              <a:gd name="csY6" fmla="*/ 430560 h 430560"/>
              <a:gd name="csX7" fmla="*/ 0 w 8763000"/>
              <a:gd name="csY7" fmla="*/ 358799 h 430560"/>
              <a:gd name="csX8" fmla="*/ 0 w 8763000"/>
              <a:gd name="csY8" fmla="*/ 71761 h 430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63000" h="430560">
                <a:moveTo>
                  <a:pt x="0" y="71761"/>
                </a:moveTo>
                <a:cubicBezTo>
                  <a:pt x="0" y="32128"/>
                  <a:pt x="32128" y="0"/>
                  <a:pt x="71761" y="0"/>
                </a:cubicBezTo>
                <a:lnTo>
                  <a:pt x="8691239" y="0"/>
                </a:lnTo>
                <a:cubicBezTo>
                  <a:pt x="8730872" y="0"/>
                  <a:pt x="8763000" y="32128"/>
                  <a:pt x="8763000" y="71761"/>
                </a:cubicBezTo>
                <a:lnTo>
                  <a:pt x="8763000" y="358799"/>
                </a:lnTo>
                <a:cubicBezTo>
                  <a:pt x="8763000" y="398432"/>
                  <a:pt x="8730872" y="430560"/>
                  <a:pt x="8691239" y="430560"/>
                </a:cubicBezTo>
                <a:lnTo>
                  <a:pt x="71761" y="430560"/>
                </a:lnTo>
                <a:cubicBezTo>
                  <a:pt x="32128" y="430560"/>
                  <a:pt x="0" y="398432"/>
                  <a:pt x="0" y="358799"/>
                </a:cubicBezTo>
                <a:lnTo>
                  <a:pt x="0" y="71761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1978" tIns="81978" rIns="81978" bIns="81978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/>
              <a:t>Front-end developers </a:t>
            </a:r>
            <a:r>
              <a:rPr lang="en-US" sz="1600" kern="1200" dirty="0"/>
              <a:t>earn </a:t>
            </a:r>
            <a:r>
              <a:rPr lang="en-US" sz="1600" b="1" kern="1200" dirty="0"/>
              <a:t>20% less</a:t>
            </a:r>
            <a:r>
              <a:rPr lang="en-US" sz="1600" kern="1200" dirty="0"/>
              <a:t> compared to the </a:t>
            </a:r>
            <a:r>
              <a:rPr lang="tr-TR" sz="1600" kern="1200" dirty="0" err="1"/>
              <a:t>full-stack</a:t>
            </a:r>
            <a:r>
              <a:rPr lang="tr-TR" sz="1600" kern="1200" dirty="0"/>
              <a:t> </a:t>
            </a:r>
            <a:r>
              <a:rPr lang="tr-TR" sz="1600" kern="1200" dirty="0" err="1"/>
              <a:t>and</a:t>
            </a:r>
            <a:r>
              <a:rPr lang="tr-TR" sz="1600" kern="1200" dirty="0"/>
              <a:t> </a:t>
            </a:r>
            <a:r>
              <a:rPr lang="tr-TR" sz="1600" kern="1200" dirty="0" err="1"/>
              <a:t>back-end</a:t>
            </a:r>
            <a:r>
              <a:rPr lang="tr-TR" sz="1600" kern="1200" dirty="0"/>
              <a:t> </a:t>
            </a:r>
            <a:r>
              <a:rPr lang="tr-TR" sz="1600" kern="1200" dirty="0" err="1"/>
              <a:t>developers</a:t>
            </a:r>
            <a:r>
              <a:rPr lang="tr-TR" sz="1600" kern="1200" dirty="0"/>
              <a:t>…</a:t>
            </a:r>
            <a:endParaRPr lang="en-US" sz="1600" kern="120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E3AC1FC-55C5-22D2-223E-9AA08779E3F0}"/>
              </a:ext>
            </a:extLst>
          </p:cNvPr>
          <p:cNvSpPr/>
          <p:nvPr/>
        </p:nvSpPr>
        <p:spPr>
          <a:xfrm>
            <a:off x="838200" y="3503701"/>
            <a:ext cx="8763000" cy="380880"/>
          </a:xfrm>
          <a:custGeom>
            <a:avLst/>
            <a:gdLst>
              <a:gd name="csX0" fmla="*/ 0 w 8763000"/>
              <a:gd name="csY0" fmla="*/ 0 h 380880"/>
              <a:gd name="csX1" fmla="*/ 8763000 w 8763000"/>
              <a:gd name="csY1" fmla="*/ 0 h 380880"/>
              <a:gd name="csX2" fmla="*/ 8763000 w 8763000"/>
              <a:gd name="csY2" fmla="*/ 380880 h 380880"/>
              <a:gd name="csX3" fmla="*/ 0 w 8763000"/>
              <a:gd name="csY3" fmla="*/ 380880 h 380880"/>
              <a:gd name="csX4" fmla="*/ 0 w 8763000"/>
              <a:gd name="csY4" fmla="*/ 0 h 380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63000" h="380880">
                <a:moveTo>
                  <a:pt x="0" y="0"/>
                </a:moveTo>
                <a:lnTo>
                  <a:pt x="8763000" y="0"/>
                </a:lnTo>
                <a:lnTo>
                  <a:pt x="87630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8225" tIns="20320" rIns="113792" bIns="20320" numCol="1" spcCol="1270" anchor="t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tr-TR" sz="1600" u="sng" kern="1200" dirty="0"/>
              <a:t>…</a:t>
            </a:r>
            <a:r>
              <a:rPr lang="tr-TR" sz="1600" u="sng" kern="1200" dirty="0" err="1"/>
              <a:t>WHILE</a:t>
            </a:r>
            <a:r>
              <a:rPr lang="tr-TR" sz="1600" kern="1200" dirty="0"/>
              <a:t> they </a:t>
            </a:r>
            <a:r>
              <a:rPr lang="tr-TR" sz="1600" kern="1200" dirty="0" err="1"/>
              <a:t>constitute</a:t>
            </a:r>
            <a:r>
              <a:rPr lang="tr-TR" sz="1600" kern="1200" dirty="0"/>
              <a:t> </a:t>
            </a:r>
            <a:r>
              <a:rPr lang="tr-TR" sz="1600" b="1" kern="1200" dirty="0" err="1"/>
              <a:t>one-nineth</a:t>
            </a:r>
            <a:r>
              <a:rPr lang="tr-TR" sz="1600" kern="1200" dirty="0"/>
              <a:t> of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respondents</a:t>
            </a:r>
            <a:r>
              <a:rPr lang="tr-TR" sz="1600" kern="1200" dirty="0"/>
              <a:t> of </a:t>
            </a:r>
            <a:r>
              <a:rPr lang="tr-TR" sz="1600" kern="1200" dirty="0" err="1"/>
              <a:t>mentioned</a:t>
            </a:r>
            <a:r>
              <a:rPr lang="tr-TR" sz="1600" kern="1200" dirty="0"/>
              <a:t> 3 </a:t>
            </a:r>
            <a:r>
              <a:rPr lang="tr-TR" sz="1600" kern="1200" dirty="0" err="1"/>
              <a:t>categories</a:t>
            </a:r>
            <a:r>
              <a:rPr lang="tr-TR" sz="1600" kern="1200" dirty="0"/>
              <a:t>.</a:t>
            </a:r>
            <a:endParaRPr lang="en-US" sz="1600" kern="120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9ED9C3F-D6B1-891D-CA90-40BBEDCEF142}"/>
              </a:ext>
            </a:extLst>
          </p:cNvPr>
          <p:cNvSpPr/>
          <p:nvPr/>
        </p:nvSpPr>
        <p:spPr>
          <a:xfrm>
            <a:off x="838200" y="3884581"/>
            <a:ext cx="8763000" cy="430560"/>
          </a:xfrm>
          <a:custGeom>
            <a:avLst/>
            <a:gdLst>
              <a:gd name="csX0" fmla="*/ 0 w 8763000"/>
              <a:gd name="csY0" fmla="*/ 71761 h 430560"/>
              <a:gd name="csX1" fmla="*/ 71761 w 8763000"/>
              <a:gd name="csY1" fmla="*/ 0 h 430560"/>
              <a:gd name="csX2" fmla="*/ 8691239 w 8763000"/>
              <a:gd name="csY2" fmla="*/ 0 h 430560"/>
              <a:gd name="csX3" fmla="*/ 8763000 w 8763000"/>
              <a:gd name="csY3" fmla="*/ 71761 h 430560"/>
              <a:gd name="csX4" fmla="*/ 8763000 w 8763000"/>
              <a:gd name="csY4" fmla="*/ 358799 h 430560"/>
              <a:gd name="csX5" fmla="*/ 8691239 w 8763000"/>
              <a:gd name="csY5" fmla="*/ 430560 h 430560"/>
              <a:gd name="csX6" fmla="*/ 71761 w 8763000"/>
              <a:gd name="csY6" fmla="*/ 430560 h 430560"/>
              <a:gd name="csX7" fmla="*/ 0 w 8763000"/>
              <a:gd name="csY7" fmla="*/ 358799 h 430560"/>
              <a:gd name="csX8" fmla="*/ 0 w 8763000"/>
              <a:gd name="csY8" fmla="*/ 71761 h 430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63000" h="430560">
                <a:moveTo>
                  <a:pt x="0" y="71761"/>
                </a:moveTo>
                <a:cubicBezTo>
                  <a:pt x="0" y="32128"/>
                  <a:pt x="32128" y="0"/>
                  <a:pt x="71761" y="0"/>
                </a:cubicBezTo>
                <a:lnTo>
                  <a:pt x="8691239" y="0"/>
                </a:lnTo>
                <a:cubicBezTo>
                  <a:pt x="8730872" y="0"/>
                  <a:pt x="8763000" y="32128"/>
                  <a:pt x="8763000" y="71761"/>
                </a:cubicBezTo>
                <a:lnTo>
                  <a:pt x="8763000" y="358799"/>
                </a:lnTo>
                <a:cubicBezTo>
                  <a:pt x="8763000" y="398432"/>
                  <a:pt x="8730872" y="430560"/>
                  <a:pt x="8691239" y="430560"/>
                </a:cubicBezTo>
                <a:lnTo>
                  <a:pt x="71761" y="430560"/>
                </a:lnTo>
                <a:cubicBezTo>
                  <a:pt x="32128" y="430560"/>
                  <a:pt x="0" y="398432"/>
                  <a:pt x="0" y="358799"/>
                </a:cubicBezTo>
                <a:lnTo>
                  <a:pt x="0" y="71761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1978" tIns="81978" rIns="81978" bIns="81978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600" kern="1200" dirty="0"/>
              <a:t>High </a:t>
            </a:r>
            <a:r>
              <a:rPr lang="tr-TR" sz="1600" kern="1200" dirty="0" err="1"/>
              <a:t>earners</a:t>
            </a:r>
            <a:r>
              <a:rPr lang="tr-TR" sz="1600" kern="1200" dirty="0"/>
              <a:t> </a:t>
            </a:r>
            <a:r>
              <a:rPr lang="tr-TR" sz="1600" kern="1200" dirty="0" err="1"/>
              <a:t>are</a:t>
            </a:r>
            <a:r>
              <a:rPr lang="tr-TR" sz="1600" kern="1200" dirty="0"/>
              <a:t> </a:t>
            </a:r>
            <a:r>
              <a:rPr lang="tr-TR" sz="1600" kern="1200" dirty="0" err="1"/>
              <a:t>usually</a:t>
            </a:r>
            <a:r>
              <a:rPr lang="tr-TR" sz="1600" kern="1200" dirty="0"/>
              <a:t> </a:t>
            </a:r>
            <a:r>
              <a:rPr lang="tr-TR" sz="1600" b="1" kern="1200" dirty="0"/>
              <a:t>24-35 </a:t>
            </a:r>
            <a:r>
              <a:rPr lang="tr-TR" sz="1600" b="1" kern="1200" dirty="0" err="1"/>
              <a:t>year-olds</a:t>
            </a:r>
            <a:r>
              <a:rPr lang="tr-TR" sz="1600" b="1" kern="1200" dirty="0"/>
              <a:t> </a:t>
            </a:r>
            <a:r>
              <a:rPr lang="tr-TR" sz="1600" b="1" kern="1200" dirty="0" err="1"/>
              <a:t>with</a:t>
            </a:r>
            <a:r>
              <a:rPr lang="tr-TR" sz="1600" b="1" kern="1200" dirty="0"/>
              <a:t> a </a:t>
            </a:r>
            <a:r>
              <a:rPr lang="tr-TR" sz="1600" b="1" kern="1200" dirty="0" err="1"/>
              <a:t>bachelor’s</a:t>
            </a:r>
            <a:r>
              <a:rPr lang="tr-TR" sz="1600" b="1" kern="1200" dirty="0"/>
              <a:t> </a:t>
            </a:r>
            <a:r>
              <a:rPr lang="tr-TR" sz="1600" b="1" kern="1200" dirty="0" err="1"/>
              <a:t>degree</a:t>
            </a:r>
            <a:r>
              <a:rPr lang="tr-TR" sz="1600" b="1" kern="1200" dirty="0"/>
              <a:t>…</a:t>
            </a:r>
            <a:endParaRPr lang="en-US" sz="1600" b="1" kern="12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F73146B-0306-4945-3DE7-5FEF53B2BADB}"/>
              </a:ext>
            </a:extLst>
          </p:cNvPr>
          <p:cNvSpPr/>
          <p:nvPr/>
        </p:nvSpPr>
        <p:spPr>
          <a:xfrm>
            <a:off x="838200" y="4315141"/>
            <a:ext cx="8763000" cy="380880"/>
          </a:xfrm>
          <a:custGeom>
            <a:avLst/>
            <a:gdLst>
              <a:gd name="csX0" fmla="*/ 0 w 8763000"/>
              <a:gd name="csY0" fmla="*/ 0 h 380880"/>
              <a:gd name="csX1" fmla="*/ 8763000 w 8763000"/>
              <a:gd name="csY1" fmla="*/ 0 h 380880"/>
              <a:gd name="csX2" fmla="*/ 8763000 w 8763000"/>
              <a:gd name="csY2" fmla="*/ 380880 h 380880"/>
              <a:gd name="csX3" fmla="*/ 0 w 8763000"/>
              <a:gd name="csY3" fmla="*/ 380880 h 380880"/>
              <a:gd name="csX4" fmla="*/ 0 w 8763000"/>
              <a:gd name="csY4" fmla="*/ 0 h 380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63000" h="380880">
                <a:moveTo>
                  <a:pt x="0" y="0"/>
                </a:moveTo>
                <a:lnTo>
                  <a:pt x="8763000" y="0"/>
                </a:lnTo>
                <a:lnTo>
                  <a:pt x="87630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8225" tIns="20320" rIns="113792" bIns="20320" numCol="1" spcCol="1270" anchor="t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tr-TR" sz="1600" u="sng" kern="1200" dirty="0"/>
              <a:t>…</a:t>
            </a:r>
            <a:r>
              <a:rPr lang="tr-TR" sz="1600" u="sng" kern="1200" dirty="0" err="1"/>
              <a:t>THOUGH</a:t>
            </a:r>
            <a:r>
              <a:rPr lang="tr-TR" sz="1600" kern="1200" dirty="0"/>
              <a:t>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highest</a:t>
            </a:r>
            <a:r>
              <a:rPr lang="tr-TR" sz="1600" kern="1200" dirty="0"/>
              <a:t> </a:t>
            </a:r>
            <a:r>
              <a:rPr lang="tr-TR" sz="1600" kern="1200" dirty="0" err="1"/>
              <a:t>job</a:t>
            </a:r>
            <a:r>
              <a:rPr lang="tr-TR" sz="1600" kern="1200" dirty="0"/>
              <a:t> </a:t>
            </a:r>
            <a:r>
              <a:rPr lang="tr-TR" sz="1600" kern="1200" dirty="0" err="1"/>
              <a:t>satisfaction</a:t>
            </a:r>
            <a:r>
              <a:rPr lang="tr-TR" sz="1600" kern="1200" dirty="0"/>
              <a:t> is </a:t>
            </a:r>
            <a:r>
              <a:rPr lang="tr-TR" sz="1600" kern="1200" dirty="0" err="1"/>
              <a:t>from</a:t>
            </a:r>
            <a:r>
              <a:rPr lang="tr-TR" sz="1600" kern="1200" dirty="0"/>
              <a:t>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unemployed</a:t>
            </a:r>
            <a:endParaRPr lang="en-US" sz="1600" kern="120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A78CC5F-01EC-1A6B-8FFF-EF868DAD4731}"/>
              </a:ext>
            </a:extLst>
          </p:cNvPr>
          <p:cNvSpPr/>
          <p:nvPr/>
        </p:nvSpPr>
        <p:spPr>
          <a:xfrm>
            <a:off x="838200" y="4696021"/>
            <a:ext cx="8763000" cy="430560"/>
          </a:xfrm>
          <a:custGeom>
            <a:avLst/>
            <a:gdLst>
              <a:gd name="csX0" fmla="*/ 0 w 8763000"/>
              <a:gd name="csY0" fmla="*/ 71761 h 430560"/>
              <a:gd name="csX1" fmla="*/ 71761 w 8763000"/>
              <a:gd name="csY1" fmla="*/ 0 h 430560"/>
              <a:gd name="csX2" fmla="*/ 8691239 w 8763000"/>
              <a:gd name="csY2" fmla="*/ 0 h 430560"/>
              <a:gd name="csX3" fmla="*/ 8763000 w 8763000"/>
              <a:gd name="csY3" fmla="*/ 71761 h 430560"/>
              <a:gd name="csX4" fmla="*/ 8763000 w 8763000"/>
              <a:gd name="csY4" fmla="*/ 358799 h 430560"/>
              <a:gd name="csX5" fmla="*/ 8691239 w 8763000"/>
              <a:gd name="csY5" fmla="*/ 430560 h 430560"/>
              <a:gd name="csX6" fmla="*/ 71761 w 8763000"/>
              <a:gd name="csY6" fmla="*/ 430560 h 430560"/>
              <a:gd name="csX7" fmla="*/ 0 w 8763000"/>
              <a:gd name="csY7" fmla="*/ 358799 h 430560"/>
              <a:gd name="csX8" fmla="*/ 0 w 8763000"/>
              <a:gd name="csY8" fmla="*/ 71761 h 430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63000" h="430560">
                <a:moveTo>
                  <a:pt x="0" y="71761"/>
                </a:moveTo>
                <a:cubicBezTo>
                  <a:pt x="0" y="32128"/>
                  <a:pt x="32128" y="0"/>
                  <a:pt x="71761" y="0"/>
                </a:cubicBezTo>
                <a:lnTo>
                  <a:pt x="8691239" y="0"/>
                </a:lnTo>
                <a:cubicBezTo>
                  <a:pt x="8730872" y="0"/>
                  <a:pt x="8763000" y="32128"/>
                  <a:pt x="8763000" y="71761"/>
                </a:cubicBezTo>
                <a:lnTo>
                  <a:pt x="8763000" y="358799"/>
                </a:lnTo>
                <a:cubicBezTo>
                  <a:pt x="8763000" y="398432"/>
                  <a:pt x="8730872" y="430560"/>
                  <a:pt x="8691239" y="430560"/>
                </a:cubicBezTo>
                <a:lnTo>
                  <a:pt x="71761" y="430560"/>
                </a:lnTo>
                <a:cubicBezTo>
                  <a:pt x="32128" y="430560"/>
                  <a:pt x="0" y="398432"/>
                  <a:pt x="0" y="358799"/>
                </a:cubicBezTo>
                <a:lnTo>
                  <a:pt x="0" y="71761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1978" tIns="81978" rIns="81978" bIns="81978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600" kern="1200" dirty="0"/>
              <a:t>Swift is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language</a:t>
            </a:r>
            <a:r>
              <a:rPr lang="tr-TR" sz="1600" kern="1200" dirty="0"/>
              <a:t> </a:t>
            </a:r>
            <a:r>
              <a:rPr lang="tr-TR" sz="1600" kern="1200" dirty="0" err="1"/>
              <a:t>whose</a:t>
            </a:r>
            <a:r>
              <a:rPr lang="tr-TR" sz="1600" kern="1200" dirty="0"/>
              <a:t> </a:t>
            </a:r>
            <a:r>
              <a:rPr lang="tr-TR" sz="1600" kern="1200" dirty="0" err="1"/>
              <a:t>users</a:t>
            </a:r>
            <a:r>
              <a:rPr lang="tr-TR" sz="1600" kern="1200" dirty="0"/>
              <a:t> </a:t>
            </a:r>
            <a:r>
              <a:rPr lang="tr-TR" sz="1600" kern="1200" dirty="0" err="1"/>
              <a:t>earn</a:t>
            </a:r>
            <a:r>
              <a:rPr lang="tr-TR" sz="1600" kern="1200" dirty="0"/>
              <a:t>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most</a:t>
            </a:r>
            <a:r>
              <a:rPr lang="tr-TR" sz="1600" kern="1200" dirty="0"/>
              <a:t> on </a:t>
            </a:r>
            <a:r>
              <a:rPr lang="tr-TR" sz="1600" kern="1200" dirty="0" err="1"/>
              <a:t>average</a:t>
            </a:r>
            <a:r>
              <a:rPr lang="tr-TR" sz="1600" kern="1200" dirty="0"/>
              <a:t>…</a:t>
            </a:r>
            <a:endParaRPr lang="en-US" sz="1600" kern="12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98DF7E0-40D6-2B4D-0103-6A1484C4C5E0}"/>
              </a:ext>
            </a:extLst>
          </p:cNvPr>
          <p:cNvSpPr/>
          <p:nvPr/>
        </p:nvSpPr>
        <p:spPr>
          <a:xfrm>
            <a:off x="838200" y="5126581"/>
            <a:ext cx="8763000" cy="380880"/>
          </a:xfrm>
          <a:custGeom>
            <a:avLst/>
            <a:gdLst>
              <a:gd name="csX0" fmla="*/ 0 w 8763000"/>
              <a:gd name="csY0" fmla="*/ 0 h 380880"/>
              <a:gd name="csX1" fmla="*/ 8763000 w 8763000"/>
              <a:gd name="csY1" fmla="*/ 0 h 380880"/>
              <a:gd name="csX2" fmla="*/ 8763000 w 8763000"/>
              <a:gd name="csY2" fmla="*/ 380880 h 380880"/>
              <a:gd name="csX3" fmla="*/ 0 w 8763000"/>
              <a:gd name="csY3" fmla="*/ 380880 h 380880"/>
              <a:gd name="csX4" fmla="*/ 0 w 8763000"/>
              <a:gd name="csY4" fmla="*/ 0 h 380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63000" h="380880">
                <a:moveTo>
                  <a:pt x="0" y="0"/>
                </a:moveTo>
                <a:lnTo>
                  <a:pt x="8763000" y="0"/>
                </a:lnTo>
                <a:lnTo>
                  <a:pt x="87630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8225" tIns="20320" rIns="113792" bIns="20320" numCol="1" spcCol="1270" anchor="t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tr-TR" sz="1600" u="sng" kern="1200" dirty="0"/>
              <a:t>…BUT</a:t>
            </a:r>
            <a:r>
              <a:rPr lang="tr-TR" sz="1600" kern="1200" dirty="0"/>
              <a:t>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reason</a:t>
            </a:r>
            <a:r>
              <a:rPr lang="tr-TR" sz="1600" kern="1200" dirty="0"/>
              <a:t> </a:t>
            </a:r>
            <a:r>
              <a:rPr lang="tr-TR" sz="1600" kern="1200" dirty="0" err="1"/>
              <a:t>for</a:t>
            </a:r>
            <a:r>
              <a:rPr lang="tr-TR" sz="1600" kern="1200" dirty="0"/>
              <a:t> </a:t>
            </a:r>
            <a:r>
              <a:rPr lang="tr-TR" sz="1600" kern="1200" dirty="0" err="1"/>
              <a:t>this</a:t>
            </a:r>
            <a:r>
              <a:rPr lang="tr-TR" sz="1600" kern="1200" dirty="0"/>
              <a:t> is not </a:t>
            </a:r>
            <a:r>
              <a:rPr lang="tr-TR" sz="1600" kern="1200" dirty="0" err="1"/>
              <a:t>definite</a:t>
            </a:r>
            <a:r>
              <a:rPr lang="tr-TR" sz="1600" kern="1200" dirty="0"/>
              <a:t>.</a:t>
            </a:r>
            <a:endParaRPr lang="en-US" sz="1600" kern="12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EC1A41F-A8D5-1E16-4947-C7395C3AB2FE}"/>
              </a:ext>
            </a:extLst>
          </p:cNvPr>
          <p:cNvSpPr/>
          <p:nvPr/>
        </p:nvSpPr>
        <p:spPr>
          <a:xfrm>
            <a:off x="838200" y="5507461"/>
            <a:ext cx="8763000" cy="430560"/>
          </a:xfrm>
          <a:custGeom>
            <a:avLst/>
            <a:gdLst>
              <a:gd name="csX0" fmla="*/ 0 w 8763000"/>
              <a:gd name="csY0" fmla="*/ 71761 h 430560"/>
              <a:gd name="csX1" fmla="*/ 71761 w 8763000"/>
              <a:gd name="csY1" fmla="*/ 0 h 430560"/>
              <a:gd name="csX2" fmla="*/ 8691239 w 8763000"/>
              <a:gd name="csY2" fmla="*/ 0 h 430560"/>
              <a:gd name="csX3" fmla="*/ 8763000 w 8763000"/>
              <a:gd name="csY3" fmla="*/ 71761 h 430560"/>
              <a:gd name="csX4" fmla="*/ 8763000 w 8763000"/>
              <a:gd name="csY4" fmla="*/ 358799 h 430560"/>
              <a:gd name="csX5" fmla="*/ 8691239 w 8763000"/>
              <a:gd name="csY5" fmla="*/ 430560 h 430560"/>
              <a:gd name="csX6" fmla="*/ 71761 w 8763000"/>
              <a:gd name="csY6" fmla="*/ 430560 h 430560"/>
              <a:gd name="csX7" fmla="*/ 0 w 8763000"/>
              <a:gd name="csY7" fmla="*/ 358799 h 430560"/>
              <a:gd name="csX8" fmla="*/ 0 w 8763000"/>
              <a:gd name="csY8" fmla="*/ 71761 h 430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63000" h="430560">
                <a:moveTo>
                  <a:pt x="0" y="71761"/>
                </a:moveTo>
                <a:cubicBezTo>
                  <a:pt x="0" y="32128"/>
                  <a:pt x="32128" y="0"/>
                  <a:pt x="71761" y="0"/>
                </a:cubicBezTo>
                <a:lnTo>
                  <a:pt x="8691239" y="0"/>
                </a:lnTo>
                <a:cubicBezTo>
                  <a:pt x="8730872" y="0"/>
                  <a:pt x="8763000" y="32128"/>
                  <a:pt x="8763000" y="71761"/>
                </a:cubicBezTo>
                <a:lnTo>
                  <a:pt x="8763000" y="358799"/>
                </a:lnTo>
                <a:cubicBezTo>
                  <a:pt x="8763000" y="398432"/>
                  <a:pt x="8730872" y="430560"/>
                  <a:pt x="8691239" y="430560"/>
                </a:cubicBezTo>
                <a:lnTo>
                  <a:pt x="71761" y="430560"/>
                </a:lnTo>
                <a:cubicBezTo>
                  <a:pt x="32128" y="430560"/>
                  <a:pt x="0" y="398432"/>
                  <a:pt x="0" y="358799"/>
                </a:cubicBezTo>
                <a:lnTo>
                  <a:pt x="0" y="71761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1978" tIns="81978" rIns="81978" bIns="81978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600" kern="1200" dirty="0" err="1"/>
              <a:t>Rivalry</a:t>
            </a:r>
            <a:r>
              <a:rPr lang="tr-TR" sz="1600" kern="1200" dirty="0"/>
              <a:t> </a:t>
            </a:r>
            <a:r>
              <a:rPr lang="tr-TR" sz="1600" kern="1200" dirty="0" err="1"/>
              <a:t>between</a:t>
            </a:r>
            <a:r>
              <a:rPr lang="tr-TR" sz="1600" kern="1200" dirty="0"/>
              <a:t> </a:t>
            </a:r>
            <a:r>
              <a:rPr lang="tr-TR" sz="1600" kern="1200" dirty="0" err="1"/>
              <a:t>database</a:t>
            </a:r>
            <a:r>
              <a:rPr lang="tr-TR" sz="1600" kern="1200" dirty="0"/>
              <a:t> </a:t>
            </a:r>
            <a:r>
              <a:rPr lang="tr-TR" sz="1600" kern="1200" dirty="0" err="1"/>
              <a:t>brands</a:t>
            </a:r>
            <a:r>
              <a:rPr lang="tr-TR" sz="1600" kern="1200" dirty="0"/>
              <a:t> </a:t>
            </a:r>
            <a:r>
              <a:rPr lang="tr-TR" sz="1600" kern="1200" dirty="0" err="1"/>
              <a:t>are</a:t>
            </a:r>
            <a:r>
              <a:rPr lang="tr-TR" sz="1600" kern="1200" dirty="0"/>
              <a:t> </a:t>
            </a:r>
            <a:r>
              <a:rPr lang="tr-TR" sz="1600" kern="1200" dirty="0" err="1"/>
              <a:t>overt</a:t>
            </a:r>
            <a:r>
              <a:rPr lang="tr-TR" sz="1600" kern="1200" dirty="0"/>
              <a:t>…</a:t>
            </a:r>
            <a:endParaRPr lang="en-US" sz="1600" kern="12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5FB4D1A-A7EA-F24F-6413-BD5BA5AC5E41}"/>
              </a:ext>
            </a:extLst>
          </p:cNvPr>
          <p:cNvSpPr/>
          <p:nvPr/>
        </p:nvSpPr>
        <p:spPr>
          <a:xfrm>
            <a:off x="838200" y="5938021"/>
            <a:ext cx="8763000" cy="380880"/>
          </a:xfrm>
          <a:custGeom>
            <a:avLst/>
            <a:gdLst>
              <a:gd name="csX0" fmla="*/ 0 w 8763000"/>
              <a:gd name="csY0" fmla="*/ 0 h 380880"/>
              <a:gd name="csX1" fmla="*/ 8763000 w 8763000"/>
              <a:gd name="csY1" fmla="*/ 0 h 380880"/>
              <a:gd name="csX2" fmla="*/ 8763000 w 8763000"/>
              <a:gd name="csY2" fmla="*/ 380880 h 380880"/>
              <a:gd name="csX3" fmla="*/ 0 w 8763000"/>
              <a:gd name="csY3" fmla="*/ 380880 h 380880"/>
              <a:gd name="csX4" fmla="*/ 0 w 8763000"/>
              <a:gd name="csY4" fmla="*/ 0 h 380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63000" h="380880">
                <a:moveTo>
                  <a:pt x="0" y="0"/>
                </a:moveTo>
                <a:lnTo>
                  <a:pt x="8763000" y="0"/>
                </a:lnTo>
                <a:lnTo>
                  <a:pt x="87630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8225" tIns="20320" rIns="113792" bIns="20320" numCol="1" spcCol="1270" anchor="t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tr-TR" sz="1600" u="sng" kern="1200" dirty="0"/>
              <a:t>…</a:t>
            </a:r>
            <a:r>
              <a:rPr lang="tr-TR" sz="1600" u="sng" kern="1200" dirty="0" err="1"/>
              <a:t>THOUGH</a:t>
            </a:r>
            <a:r>
              <a:rPr lang="tr-TR" sz="1600" kern="1200" dirty="0"/>
              <a:t> </a:t>
            </a:r>
            <a:r>
              <a:rPr lang="tr-TR" sz="1600" kern="1200" dirty="0" err="1"/>
              <a:t>PostgreSQL</a:t>
            </a:r>
            <a:r>
              <a:rPr lang="tr-TR" sz="1600" kern="1200" dirty="0"/>
              <a:t> </a:t>
            </a:r>
            <a:r>
              <a:rPr lang="tr-TR" sz="1600" kern="1200" dirty="0" err="1"/>
              <a:t>seems</a:t>
            </a:r>
            <a:r>
              <a:rPr lang="tr-TR" sz="1600" kern="1200" dirty="0"/>
              <a:t> not </a:t>
            </a:r>
            <a:r>
              <a:rPr lang="tr-TR" sz="1600" kern="1200" dirty="0" err="1"/>
              <a:t>to</a:t>
            </a:r>
            <a:r>
              <a:rPr lang="tr-TR" sz="1600" kern="1200" dirty="0"/>
              <a:t> </a:t>
            </a:r>
            <a:r>
              <a:rPr lang="tr-TR" sz="1600" kern="1200" dirty="0" err="1"/>
              <a:t>bother</a:t>
            </a:r>
            <a:r>
              <a:rPr lang="tr-TR" sz="1600" kern="1200" dirty="0"/>
              <a:t> as a </a:t>
            </a:r>
            <a:r>
              <a:rPr lang="tr-TR" sz="1600" kern="1200" dirty="0" err="1"/>
              <a:t>leader</a:t>
            </a:r>
            <a:r>
              <a:rPr lang="tr-TR" sz="1600" kern="1200" dirty="0"/>
              <a:t>.</a:t>
            </a:r>
            <a:endParaRPr lang="en-US" sz="1600" kern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OVERALL FINDINGS &amp; IMPLICATIONS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4F43117-C495-2757-34DA-E3011FF3C498}"/>
              </a:ext>
            </a:extLst>
          </p:cNvPr>
          <p:cNvGrpSpPr/>
          <p:nvPr/>
        </p:nvGrpSpPr>
        <p:grpSpPr>
          <a:xfrm>
            <a:off x="381001" y="1610441"/>
            <a:ext cx="4571999" cy="4180759"/>
            <a:chOff x="762000" y="1610441"/>
            <a:chExt cx="3930052" cy="2340519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AB3C0C0-8796-29F0-6F04-62F06FE81B6F}"/>
                </a:ext>
              </a:extLst>
            </p:cNvPr>
            <p:cNvSpPr/>
            <p:nvPr/>
          </p:nvSpPr>
          <p:spPr>
            <a:xfrm>
              <a:off x="762000" y="1610441"/>
              <a:ext cx="3930052" cy="845673"/>
            </a:xfrm>
            <a:custGeom>
              <a:avLst/>
              <a:gdLst>
                <a:gd name="csX0" fmla="*/ 0 w 5181600"/>
                <a:gd name="csY0" fmla="*/ 0 h 1123200"/>
                <a:gd name="csX1" fmla="*/ 5181600 w 5181600"/>
                <a:gd name="csY1" fmla="*/ 0 h 1123200"/>
                <a:gd name="csX2" fmla="*/ 5181600 w 5181600"/>
                <a:gd name="csY2" fmla="*/ 1123200 h 1123200"/>
                <a:gd name="csX3" fmla="*/ 0 w 5181600"/>
                <a:gd name="csY3" fmla="*/ 1123200 h 1123200"/>
                <a:gd name="csX4" fmla="*/ 0 w 5181600"/>
                <a:gd name="csY4" fmla="*/ 0 h 1123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123200">
                  <a:moveTo>
                    <a:pt x="0" y="0"/>
                  </a:moveTo>
                  <a:lnTo>
                    <a:pt x="5181600" y="0"/>
                  </a:lnTo>
                  <a:lnTo>
                    <a:pt x="5181600" y="1123200"/>
                  </a:lnTo>
                  <a:lnTo>
                    <a:pt x="0" y="112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8428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lvl="0" indent="0" defTabSz="11112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/>
                <a:t>Findings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54983C2-1FDD-B682-6448-20850FCF2C57}"/>
                </a:ext>
              </a:extLst>
            </p:cNvPr>
            <p:cNvSpPr/>
            <p:nvPr/>
          </p:nvSpPr>
          <p:spPr>
            <a:xfrm>
              <a:off x="762000" y="2456115"/>
              <a:ext cx="3930052" cy="1494845"/>
            </a:xfrm>
            <a:custGeom>
              <a:avLst/>
              <a:gdLst>
                <a:gd name="csX0" fmla="*/ 0 w 5181600"/>
                <a:gd name="csY0" fmla="*/ 0 h 1980517"/>
                <a:gd name="csX1" fmla="*/ 5181600 w 5181600"/>
                <a:gd name="csY1" fmla="*/ 0 h 1980517"/>
                <a:gd name="csX2" fmla="*/ 5181600 w 5181600"/>
                <a:gd name="csY2" fmla="*/ 1980517 h 1980517"/>
                <a:gd name="csX3" fmla="*/ 0 w 5181600"/>
                <a:gd name="csY3" fmla="*/ 1980517 h 1980517"/>
                <a:gd name="csX4" fmla="*/ 0 w 5181600"/>
                <a:gd name="csY4" fmla="*/ 0 h 19805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980517">
                  <a:moveTo>
                    <a:pt x="0" y="0"/>
                  </a:moveTo>
                  <a:lnTo>
                    <a:pt x="5181600" y="0"/>
                  </a:lnTo>
                  <a:lnTo>
                    <a:pt x="5181600" y="1980517"/>
                  </a:lnTo>
                  <a:lnTo>
                    <a:pt x="0" y="198051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42240" bIns="160020" numCol="1" spcCol="1270" anchor="t" anchorCtr="0">
              <a:noAutofit/>
            </a:bodyPr>
            <a:lstStyle/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tr-TR" sz="1400" dirty="0"/>
                <a:t>HTML/CSS is </a:t>
              </a:r>
              <a:r>
                <a:rPr lang="tr-TR" sz="1400" dirty="0" err="1"/>
                <a:t>losing</a:t>
              </a:r>
              <a:r>
                <a:rPr lang="tr-TR" sz="1400" dirty="0"/>
                <a:t> </a:t>
              </a:r>
              <a:r>
                <a:rPr lang="tr-TR" sz="1400" dirty="0" err="1"/>
                <a:t>gound</a:t>
              </a:r>
              <a:r>
                <a:rPr lang="tr-TR" sz="1400" dirty="0"/>
                <a:t>…</a:t>
              </a:r>
              <a:endParaRPr lang="en-US" sz="1400" kern="1200" dirty="0"/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tr-TR" sz="1400" dirty="0"/>
                <a:t> SQL is </a:t>
              </a:r>
              <a:r>
                <a:rPr lang="tr-TR" sz="1400" dirty="0" err="1"/>
                <a:t>the</a:t>
              </a:r>
              <a:r>
                <a:rPr lang="tr-TR" sz="1400" dirty="0"/>
                <a:t> market </a:t>
              </a:r>
              <a:r>
                <a:rPr lang="tr-TR" sz="1400" dirty="0" err="1"/>
                <a:t>leader</a:t>
              </a:r>
              <a:r>
                <a:rPr lang="tr-TR" sz="1400" dirty="0"/>
                <a:t>…</a:t>
              </a:r>
              <a:endParaRPr lang="en-US" sz="1400" dirty="0"/>
            </a:p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tr-TR" sz="1400" dirty="0" err="1"/>
                <a:t>Rivalry</a:t>
              </a:r>
              <a:r>
                <a:rPr lang="tr-TR" sz="1400" dirty="0"/>
                <a:t> </a:t>
              </a:r>
              <a:r>
                <a:rPr lang="tr-TR" sz="1400" dirty="0" err="1"/>
                <a:t>between</a:t>
              </a:r>
              <a:r>
                <a:rPr lang="tr-TR" sz="1400" dirty="0"/>
                <a:t> </a:t>
              </a:r>
              <a:r>
                <a:rPr lang="tr-TR" sz="1400" dirty="0" err="1"/>
                <a:t>frameworks</a:t>
              </a:r>
              <a:r>
                <a:rPr lang="tr-TR" sz="1400" dirty="0"/>
                <a:t> </a:t>
              </a:r>
              <a:r>
                <a:rPr lang="tr-TR" sz="1400" dirty="0" err="1"/>
                <a:t>are</a:t>
              </a:r>
              <a:r>
                <a:rPr lang="tr-TR" sz="1400" dirty="0"/>
                <a:t> </a:t>
              </a:r>
              <a:r>
                <a:rPr lang="tr-TR" sz="1400" dirty="0" err="1"/>
                <a:t>extremely</a:t>
              </a:r>
              <a:r>
                <a:rPr lang="tr-TR" sz="1400" dirty="0"/>
                <a:t> </a:t>
              </a:r>
              <a:r>
                <a:rPr lang="tr-TR" sz="1400" dirty="0" err="1"/>
                <a:t>vivid</a:t>
              </a:r>
              <a:r>
                <a:rPr lang="tr-TR" sz="1400" dirty="0"/>
                <a:t>…</a:t>
              </a:r>
            </a:p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tr-TR" sz="1400" dirty="0" err="1"/>
                <a:t>PostgreSQL</a:t>
              </a:r>
              <a:r>
                <a:rPr lang="tr-TR" sz="1400" dirty="0"/>
                <a:t> is </a:t>
              </a:r>
              <a:r>
                <a:rPr lang="tr-TR" sz="1400" dirty="0" err="1"/>
                <a:t>way</a:t>
              </a:r>
              <a:r>
                <a:rPr lang="tr-TR" sz="1400" dirty="0"/>
                <a:t> </a:t>
              </a:r>
              <a:r>
                <a:rPr lang="tr-TR" sz="1400" dirty="0" err="1"/>
                <a:t>ahead</a:t>
              </a:r>
              <a:r>
                <a:rPr lang="tr-TR" sz="1400" dirty="0"/>
                <a:t> of </a:t>
              </a:r>
              <a:r>
                <a:rPr lang="tr-TR" sz="1400" dirty="0" err="1"/>
                <a:t>rivals</a:t>
              </a:r>
              <a:r>
                <a:rPr lang="tr-TR" sz="1400" dirty="0"/>
                <a:t>…</a:t>
              </a:r>
            </a:p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tr-TR" sz="1400" dirty="0"/>
                <a:t>Amazon Web Services </a:t>
              </a:r>
              <a:r>
                <a:rPr lang="tr-TR" sz="1400" dirty="0" err="1"/>
                <a:t>will</a:t>
              </a:r>
              <a:r>
                <a:rPr lang="tr-TR" sz="1400" dirty="0"/>
                <a:t> </a:t>
              </a:r>
              <a:r>
                <a:rPr lang="tr-TR" sz="1400" dirty="0" err="1"/>
                <a:t>keep</a:t>
              </a:r>
              <a:r>
                <a:rPr lang="tr-TR" sz="1400" dirty="0"/>
                <a:t>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ground</a:t>
              </a:r>
              <a:r>
                <a:rPr lang="tr-TR" sz="1400" dirty="0"/>
                <a:t>…</a:t>
              </a:r>
            </a:p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tr-TR" sz="1400" dirty="0"/>
                <a:t>H</a:t>
              </a:r>
              <a:r>
                <a:rPr lang="en-US" sz="1400" dirty="0" err="1"/>
                <a:t>ighest</a:t>
              </a:r>
              <a:r>
                <a:rPr lang="en-US" sz="1400" dirty="0"/>
                <a:t> </a:t>
              </a:r>
              <a:r>
                <a:rPr lang="tr-TR" sz="1400" dirty="0" err="1"/>
                <a:t>and</a:t>
              </a:r>
              <a:r>
                <a:rPr lang="tr-TR" sz="1400" dirty="0"/>
                <a:t>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lowest</a:t>
              </a:r>
              <a:r>
                <a:rPr lang="tr-TR" sz="1400" dirty="0"/>
                <a:t> </a:t>
              </a:r>
              <a:r>
                <a:rPr lang="tr-TR" sz="1400" dirty="0" err="1"/>
                <a:t>job</a:t>
              </a:r>
              <a:r>
                <a:rPr lang="tr-TR" sz="1400" dirty="0"/>
                <a:t> </a:t>
              </a:r>
              <a:r>
                <a:rPr lang="tr-TR" sz="1400" dirty="0" err="1"/>
                <a:t>satisfaction</a:t>
              </a:r>
              <a:r>
                <a:rPr lang="tr-TR" sz="1400" dirty="0"/>
                <a:t> </a:t>
              </a:r>
              <a:r>
                <a:rPr lang="en-US" sz="1400" dirty="0"/>
                <a:t>average</a:t>
              </a:r>
              <a:r>
                <a:rPr lang="tr-TR" sz="1400" dirty="0"/>
                <a:t> </a:t>
              </a:r>
              <a:r>
                <a:rPr lang="tr-TR" sz="1400" dirty="0" err="1"/>
                <a:t>from</a:t>
              </a:r>
              <a:r>
                <a:rPr lang="tr-TR" sz="1400" dirty="0"/>
                <a:t> 2 </a:t>
              </a:r>
              <a:r>
                <a:rPr lang="tr-TR" sz="1400" dirty="0" err="1"/>
                <a:t>categories</a:t>
              </a:r>
              <a:r>
                <a:rPr lang="tr-TR" sz="1400" dirty="0"/>
                <a:t>…</a:t>
              </a:r>
              <a:endParaRPr lang="en-US" sz="1400" dirty="0"/>
            </a:p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endParaRPr lang="en-US" sz="1400" kern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AA18264-0060-EADD-9140-A0CFD53E7621}"/>
              </a:ext>
            </a:extLst>
          </p:cNvPr>
          <p:cNvGrpSpPr/>
          <p:nvPr/>
        </p:nvGrpSpPr>
        <p:grpSpPr>
          <a:xfrm>
            <a:off x="5105400" y="1609838"/>
            <a:ext cx="6477002" cy="4181362"/>
            <a:chOff x="6120384" y="1609838"/>
            <a:chExt cx="5181600" cy="326696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C3FE952-F6EF-C372-EC80-AFEEF6878935}"/>
                </a:ext>
              </a:extLst>
            </p:cNvPr>
            <p:cNvSpPr/>
            <p:nvPr/>
          </p:nvSpPr>
          <p:spPr>
            <a:xfrm>
              <a:off x="6120384" y="1609838"/>
              <a:ext cx="5181600" cy="1180800"/>
            </a:xfrm>
            <a:custGeom>
              <a:avLst/>
              <a:gdLst>
                <a:gd name="csX0" fmla="*/ 0 w 5181600"/>
                <a:gd name="csY0" fmla="*/ 0 h 1180800"/>
                <a:gd name="csX1" fmla="*/ 5181600 w 5181600"/>
                <a:gd name="csY1" fmla="*/ 0 h 1180800"/>
                <a:gd name="csX2" fmla="*/ 5181600 w 5181600"/>
                <a:gd name="csY2" fmla="*/ 1180800 h 1180800"/>
                <a:gd name="csX3" fmla="*/ 0 w 5181600"/>
                <a:gd name="csY3" fmla="*/ 1180800 h 1180800"/>
                <a:gd name="csX4" fmla="*/ 0 w 5181600"/>
                <a:gd name="csY4" fmla="*/ 0 h 118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180800">
                  <a:moveTo>
                    <a:pt x="0" y="0"/>
                  </a:moveTo>
                  <a:lnTo>
                    <a:pt x="5181600" y="0"/>
                  </a:lnTo>
                  <a:lnTo>
                    <a:pt x="5181600" y="1180800"/>
                  </a:lnTo>
                  <a:lnTo>
                    <a:pt x="0" y="118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8428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lvl="0" indent="0" defTabSz="11112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/>
                <a:t>Implications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1197C74-BCDA-7F3B-2ECD-11ECEE414658}"/>
                </a:ext>
              </a:extLst>
            </p:cNvPr>
            <p:cNvSpPr/>
            <p:nvPr/>
          </p:nvSpPr>
          <p:spPr>
            <a:xfrm>
              <a:off x="6120384" y="2790639"/>
              <a:ext cx="5181600" cy="2086163"/>
            </a:xfrm>
            <a:custGeom>
              <a:avLst/>
              <a:gdLst>
                <a:gd name="csX0" fmla="*/ 0 w 5181600"/>
                <a:gd name="csY0" fmla="*/ 0 h 3151260"/>
                <a:gd name="csX1" fmla="*/ 5181600 w 5181600"/>
                <a:gd name="csY1" fmla="*/ 0 h 3151260"/>
                <a:gd name="csX2" fmla="*/ 5181600 w 5181600"/>
                <a:gd name="csY2" fmla="*/ 3151260 h 3151260"/>
                <a:gd name="csX3" fmla="*/ 0 w 5181600"/>
                <a:gd name="csY3" fmla="*/ 3151260 h 3151260"/>
                <a:gd name="csX4" fmla="*/ 0 w 5181600"/>
                <a:gd name="csY4" fmla="*/ 0 h 31512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3151260">
                  <a:moveTo>
                    <a:pt x="0" y="0"/>
                  </a:moveTo>
                  <a:lnTo>
                    <a:pt x="5181600" y="0"/>
                  </a:lnTo>
                  <a:lnTo>
                    <a:pt x="5181600" y="3151260"/>
                  </a:lnTo>
                  <a:lnTo>
                    <a:pt x="0" y="315126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42240" bIns="160020" numCol="1" spcCol="1270" anchor="t" anchorCtr="0">
              <a:noAutofit/>
            </a:bodyPr>
            <a:lstStyle/>
            <a:p>
              <a:pPr marL="285750" lvl="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400" u="sng" dirty="0" err="1"/>
                <a:t>DUE</a:t>
              </a:r>
              <a:r>
                <a:rPr lang="tr-TR" sz="1400" u="sng" dirty="0"/>
                <a:t> </a:t>
              </a:r>
              <a:r>
                <a:rPr lang="tr-TR" sz="1400" u="sng" dirty="0" err="1"/>
                <a:t>TO</a:t>
              </a:r>
              <a:r>
                <a:rPr lang="tr-TR" sz="1400" dirty="0"/>
                <a:t> </a:t>
              </a:r>
              <a:r>
                <a:rPr lang="tr-TR" sz="1400" dirty="0" err="1"/>
                <a:t>frameworks</a:t>
              </a:r>
              <a:r>
                <a:rPr lang="tr-TR" sz="1400" dirty="0"/>
                <a:t> </a:t>
              </a:r>
              <a:r>
                <a:rPr lang="tr-TR" sz="1400" dirty="0" err="1"/>
                <a:t>that</a:t>
              </a:r>
              <a:r>
                <a:rPr lang="tr-TR" sz="1400" dirty="0"/>
                <a:t> </a:t>
              </a:r>
              <a:r>
                <a:rPr lang="tr-TR" sz="1400" dirty="0" err="1"/>
                <a:t>ease</a:t>
              </a:r>
              <a:r>
                <a:rPr lang="tr-TR" sz="1400" dirty="0"/>
                <a:t>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work</a:t>
              </a:r>
              <a:r>
                <a:rPr lang="tr-TR" sz="1400" dirty="0"/>
                <a:t> </a:t>
              </a:r>
              <a:r>
                <a:rPr lang="tr-TR" sz="1400" dirty="0" err="1"/>
                <a:t>such</a:t>
              </a:r>
              <a:r>
                <a:rPr lang="tr-TR" sz="1400" dirty="0"/>
                <a:t> as </a:t>
              </a:r>
              <a:r>
                <a:rPr lang="tr-TR" sz="1400" dirty="0" err="1"/>
                <a:t>streamlit</a:t>
              </a:r>
              <a:r>
                <a:rPr lang="tr-TR" sz="1400" dirty="0"/>
                <a:t> </a:t>
              </a:r>
              <a:r>
                <a:rPr lang="tr-TR" sz="1400" dirty="0" err="1"/>
                <a:t>or</a:t>
              </a:r>
              <a:r>
                <a:rPr lang="tr-TR" sz="1400" dirty="0"/>
                <a:t> </a:t>
              </a:r>
              <a:r>
                <a:rPr lang="tr-TR" sz="1400" dirty="0" err="1"/>
                <a:t>dash</a:t>
              </a:r>
              <a:r>
                <a:rPr lang="tr-TR" sz="1400" dirty="0"/>
                <a:t>.</a:t>
              </a:r>
              <a:endParaRPr lang="en-US" sz="1400" dirty="0"/>
            </a:p>
            <a:p>
              <a:pPr marL="285750" lvl="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400" u="sng" dirty="0" err="1"/>
                <a:t>DUE</a:t>
              </a:r>
              <a:r>
                <a:rPr lang="tr-TR" sz="1400" u="sng" dirty="0"/>
                <a:t> </a:t>
              </a:r>
              <a:r>
                <a:rPr lang="tr-TR" sz="1400" u="sng" dirty="0" err="1"/>
                <a:t>TO</a:t>
              </a:r>
              <a:r>
                <a:rPr lang="tr-TR" sz="1400" dirty="0"/>
                <a:t> </a:t>
              </a:r>
              <a:r>
                <a:rPr lang="tr-TR" sz="1400" dirty="0" err="1"/>
                <a:t>unavailability</a:t>
              </a:r>
              <a:r>
                <a:rPr lang="tr-TR" sz="1400" dirty="0"/>
                <a:t> of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rivals</a:t>
              </a:r>
              <a:r>
                <a:rPr lang="tr-TR" sz="1400" dirty="0"/>
                <a:t> </a:t>
              </a:r>
              <a:r>
                <a:rPr lang="tr-TR" sz="1400" dirty="0" err="1"/>
                <a:t>out</a:t>
              </a:r>
              <a:r>
                <a:rPr lang="tr-TR" sz="1400" dirty="0"/>
                <a:t> </a:t>
              </a:r>
              <a:r>
                <a:rPr lang="tr-TR" sz="1400" dirty="0" err="1"/>
                <a:t>there</a:t>
              </a:r>
              <a:r>
                <a:rPr lang="tr-TR" sz="1400" dirty="0"/>
                <a:t>.</a:t>
              </a:r>
              <a:endParaRPr lang="en-US" sz="1400" dirty="0"/>
            </a:p>
            <a:p>
              <a:pPr marL="285750" lvl="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400" u="sng" dirty="0" err="1"/>
                <a:t>SO</a:t>
              </a:r>
              <a:r>
                <a:rPr lang="tr-TR" sz="1400" u="sng" dirty="0"/>
                <a:t> </a:t>
              </a:r>
              <a:r>
                <a:rPr lang="tr-TR" sz="1400" u="sng" dirty="0" err="1"/>
                <a:t>MUCH</a:t>
              </a:r>
              <a:r>
                <a:rPr lang="tr-TR" sz="1400" u="sng" dirty="0"/>
                <a:t> </a:t>
              </a:r>
              <a:r>
                <a:rPr lang="tr-TR" sz="1400" u="sng" dirty="0" err="1"/>
                <a:t>SO</a:t>
              </a:r>
              <a:r>
                <a:rPr lang="tr-TR" sz="1400" u="sng" dirty="0"/>
                <a:t> </a:t>
              </a:r>
              <a:r>
                <a:rPr lang="tr-TR" sz="1400" u="sng" dirty="0" err="1"/>
                <a:t>THAT</a:t>
              </a:r>
              <a:r>
                <a:rPr lang="tr-TR" sz="1400" dirty="0"/>
                <a:t> </a:t>
              </a:r>
              <a:r>
                <a:rPr lang="tr-TR" sz="1400" dirty="0" err="1"/>
                <a:t>React</a:t>
              </a:r>
              <a:r>
                <a:rPr lang="tr-TR" sz="1400" dirty="0"/>
                <a:t> is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leader</a:t>
              </a:r>
              <a:r>
                <a:rPr lang="tr-TR" sz="1400" dirty="0"/>
                <a:t> </a:t>
              </a:r>
              <a:r>
                <a:rPr lang="tr-TR" sz="1400" dirty="0" err="1"/>
                <a:t>only</a:t>
              </a:r>
              <a:r>
                <a:rPr lang="tr-TR" sz="1400" dirty="0"/>
                <a:t> </a:t>
              </a:r>
              <a:r>
                <a:rPr lang="tr-TR" sz="1400" dirty="0" err="1"/>
                <a:t>with</a:t>
              </a:r>
              <a:r>
                <a:rPr lang="tr-TR" sz="1400" dirty="0"/>
                <a:t> 11% of </a:t>
              </a:r>
              <a:r>
                <a:rPr lang="tr-TR" sz="1400" dirty="0" err="1"/>
                <a:t>the</a:t>
              </a:r>
              <a:r>
                <a:rPr lang="tr-TR" sz="1400" dirty="0"/>
                <a:t> market </a:t>
              </a:r>
              <a:r>
                <a:rPr lang="tr-TR" sz="1400" dirty="0" err="1"/>
                <a:t>share</a:t>
              </a:r>
              <a:r>
                <a:rPr lang="tr-TR" sz="1400" dirty="0"/>
                <a:t>.</a:t>
              </a:r>
            </a:p>
            <a:p>
              <a:pPr marL="285750" lvl="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400" u="sng" dirty="0" err="1"/>
                <a:t>AND</a:t>
              </a:r>
              <a:r>
                <a:rPr lang="tr-TR" sz="1400" dirty="0"/>
                <a:t> </a:t>
              </a:r>
              <a:r>
                <a:rPr lang="tr-TR" sz="1400" dirty="0" err="1"/>
                <a:t>this</a:t>
              </a:r>
              <a:r>
                <a:rPr lang="tr-TR" sz="1400" dirty="0"/>
                <a:t> </a:t>
              </a:r>
              <a:r>
                <a:rPr lang="tr-TR" sz="1400" dirty="0" err="1"/>
                <a:t>seems</a:t>
              </a:r>
              <a:r>
                <a:rPr lang="tr-TR" sz="1400" dirty="0"/>
                <a:t> not </a:t>
              </a:r>
              <a:r>
                <a:rPr lang="tr-TR" sz="1400" dirty="0" err="1"/>
                <a:t>to</a:t>
              </a:r>
              <a:r>
                <a:rPr lang="tr-TR" sz="1400" dirty="0"/>
                <a:t> </a:t>
              </a:r>
              <a:r>
                <a:rPr lang="tr-TR" sz="1400" dirty="0" err="1"/>
                <a:t>change</a:t>
              </a:r>
              <a:r>
                <a:rPr lang="tr-TR" sz="1400" dirty="0"/>
                <a:t> in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near</a:t>
              </a:r>
              <a:r>
                <a:rPr lang="tr-TR" sz="1400" dirty="0"/>
                <a:t> </a:t>
              </a:r>
              <a:r>
                <a:rPr lang="tr-TR" sz="1400" dirty="0" err="1"/>
                <a:t>future</a:t>
              </a:r>
              <a:r>
                <a:rPr lang="tr-TR" sz="1400" dirty="0"/>
                <a:t>.</a:t>
              </a:r>
            </a:p>
            <a:p>
              <a:pPr marL="285750" lvl="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400" u="sng" dirty="0"/>
                <a:t>BUT</a:t>
              </a:r>
              <a:r>
                <a:rPr lang="tr-TR" sz="1400" dirty="0"/>
                <a:t>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threat</a:t>
              </a:r>
              <a:r>
                <a:rPr lang="tr-TR" sz="1400" dirty="0"/>
                <a:t> </a:t>
              </a:r>
              <a:r>
                <a:rPr lang="tr-TR" sz="1400" dirty="0" err="1"/>
                <a:t>from</a:t>
              </a:r>
              <a:r>
                <a:rPr lang="tr-TR" sz="1400" dirty="0"/>
                <a:t> </a:t>
              </a:r>
              <a:r>
                <a:rPr lang="tr-TR" sz="1400" dirty="0" err="1"/>
                <a:t>the</a:t>
              </a:r>
              <a:r>
                <a:rPr lang="tr-TR" sz="1400" dirty="0"/>
                <a:t> MS </a:t>
              </a:r>
              <a:r>
                <a:rPr lang="tr-TR" sz="1400" dirty="0" err="1"/>
                <a:t>and</a:t>
              </a:r>
              <a:r>
                <a:rPr lang="tr-TR" sz="1400" dirty="0"/>
                <a:t> Google </a:t>
              </a:r>
              <a:r>
                <a:rPr lang="tr-TR" sz="1400" dirty="0" err="1"/>
                <a:t>services</a:t>
              </a:r>
              <a:r>
                <a:rPr lang="tr-TR" sz="1400" dirty="0"/>
                <a:t> </a:t>
              </a:r>
              <a:r>
                <a:rPr lang="tr-TR" sz="1400" dirty="0" err="1"/>
                <a:t>will</a:t>
              </a:r>
              <a:r>
                <a:rPr lang="tr-TR" sz="1400" dirty="0"/>
                <a:t> </a:t>
              </a:r>
              <a:r>
                <a:rPr lang="tr-TR" sz="1400" dirty="0" err="1"/>
                <a:t>grow</a:t>
              </a:r>
              <a:r>
                <a:rPr lang="tr-TR" sz="1400" dirty="0"/>
                <a:t> </a:t>
              </a:r>
              <a:r>
                <a:rPr lang="tr-TR" sz="1400" dirty="0" err="1"/>
                <a:t>bigger</a:t>
              </a:r>
              <a:r>
                <a:rPr lang="tr-TR" sz="1400" dirty="0"/>
                <a:t>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400" u="sng" dirty="0" err="1"/>
                <a:t>INTERESTINGLY</a:t>
              </a:r>
              <a:r>
                <a:rPr lang="tr-TR" sz="1400" dirty="0"/>
                <a:t> </a:t>
              </a:r>
              <a:r>
                <a:rPr lang="en-US" sz="1400" dirty="0"/>
                <a:t>the unemployed and the retired</a:t>
              </a:r>
              <a:r>
                <a:rPr lang="tr-TR" sz="1400" dirty="0"/>
                <a:t> </a:t>
              </a:r>
              <a:r>
                <a:rPr lang="tr-TR" sz="1400" dirty="0" err="1"/>
                <a:t>respectively</a:t>
              </a:r>
              <a:r>
                <a:rPr lang="tr-TR" sz="1400" dirty="0"/>
                <a:t>.</a:t>
              </a:r>
              <a:endParaRPr lang="en-US" sz="14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14400" y="2286000"/>
            <a:ext cx="3054361" cy="3054361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F9E2371-1B78-D069-BC50-5453A4659DEC}"/>
              </a:ext>
            </a:extLst>
          </p:cNvPr>
          <p:cNvSpPr/>
          <p:nvPr/>
        </p:nvSpPr>
        <p:spPr>
          <a:xfrm>
            <a:off x="4663992" y="1447254"/>
            <a:ext cx="6384798" cy="640769"/>
          </a:xfrm>
          <a:custGeom>
            <a:avLst/>
            <a:gdLst>
              <a:gd name="csX0" fmla="*/ 0 w 6384798"/>
              <a:gd name="csY0" fmla="*/ 0 h 640767"/>
              <a:gd name="csX1" fmla="*/ 6064415 w 6384798"/>
              <a:gd name="csY1" fmla="*/ 0 h 640767"/>
              <a:gd name="csX2" fmla="*/ 6384798 w 6384798"/>
              <a:gd name="csY2" fmla="*/ 320384 h 640767"/>
              <a:gd name="csX3" fmla="*/ 6064415 w 6384798"/>
              <a:gd name="csY3" fmla="*/ 640767 h 640767"/>
              <a:gd name="csX4" fmla="*/ 0 w 6384798"/>
              <a:gd name="csY4" fmla="*/ 640767 h 640767"/>
              <a:gd name="csX5" fmla="*/ 0 w 6384798"/>
              <a:gd name="csY5" fmla="*/ 0 h 640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384798" h="640767">
                <a:moveTo>
                  <a:pt x="6384798" y="640766"/>
                </a:moveTo>
                <a:lnTo>
                  <a:pt x="320383" y="640766"/>
                </a:lnTo>
                <a:lnTo>
                  <a:pt x="0" y="320383"/>
                </a:lnTo>
                <a:lnTo>
                  <a:pt x="320383" y="1"/>
                </a:lnTo>
                <a:lnTo>
                  <a:pt x="6384798" y="1"/>
                </a:lnTo>
                <a:lnTo>
                  <a:pt x="6384798" y="640766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2753" tIns="49531" rIns="92456" bIns="49531" numCol="1" spcCol="1270" anchor="ctr" anchorCtr="0">
            <a:noAutofit/>
          </a:bodyPr>
          <a:lstStyle/>
          <a:p>
            <a:pPr marL="0" lvl="0" indent="0" algn="l" defTabSz="5556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250" b="1" kern="1200">
                <a:solidFill>
                  <a:schemeClr val="bg1">
                    <a:lumMod val="75000"/>
                  </a:schemeClr>
                </a:solidFill>
              </a:rPr>
              <a:t>100K will continue to be the ballpark average for the yearly compensation, with 250K being the virtual top EXCLUDING outliers.</a:t>
            </a:r>
            <a:endParaRPr lang="en-US" sz="1250" b="1" kern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9E2114-C3DF-A153-9E46-3D2F9FFAA5DD}"/>
              </a:ext>
            </a:extLst>
          </p:cNvPr>
          <p:cNvSpPr/>
          <p:nvPr/>
        </p:nvSpPr>
        <p:spPr>
          <a:xfrm>
            <a:off x="4343609" y="1447255"/>
            <a:ext cx="640767" cy="640767"/>
          </a:xfrm>
          <a:prstGeom prst="ellipse">
            <a:avLst/>
          </a:prstGeom>
          <a:blipFill>
            <a:blip r:embed="rId4"/>
            <a:srcRect/>
            <a:stretch>
              <a:fillRect l="-10000" r="-10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8B4FB4-E51E-6EA3-CBBE-17EDA4AD3C6F}"/>
              </a:ext>
            </a:extLst>
          </p:cNvPr>
          <p:cNvSpPr/>
          <p:nvPr/>
        </p:nvSpPr>
        <p:spPr>
          <a:xfrm>
            <a:off x="4663992" y="2279296"/>
            <a:ext cx="6384798" cy="640768"/>
          </a:xfrm>
          <a:custGeom>
            <a:avLst/>
            <a:gdLst>
              <a:gd name="csX0" fmla="*/ 0 w 6384798"/>
              <a:gd name="csY0" fmla="*/ 0 h 640767"/>
              <a:gd name="csX1" fmla="*/ 6064415 w 6384798"/>
              <a:gd name="csY1" fmla="*/ 0 h 640767"/>
              <a:gd name="csX2" fmla="*/ 6384798 w 6384798"/>
              <a:gd name="csY2" fmla="*/ 320384 h 640767"/>
              <a:gd name="csX3" fmla="*/ 6064415 w 6384798"/>
              <a:gd name="csY3" fmla="*/ 640767 h 640767"/>
              <a:gd name="csX4" fmla="*/ 0 w 6384798"/>
              <a:gd name="csY4" fmla="*/ 640767 h 640767"/>
              <a:gd name="csX5" fmla="*/ 0 w 6384798"/>
              <a:gd name="csY5" fmla="*/ 0 h 640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384798" h="640767">
                <a:moveTo>
                  <a:pt x="6384798" y="640766"/>
                </a:moveTo>
                <a:lnTo>
                  <a:pt x="320383" y="640766"/>
                </a:lnTo>
                <a:lnTo>
                  <a:pt x="0" y="320383"/>
                </a:lnTo>
                <a:lnTo>
                  <a:pt x="320383" y="1"/>
                </a:lnTo>
                <a:lnTo>
                  <a:pt x="6384798" y="1"/>
                </a:lnTo>
                <a:lnTo>
                  <a:pt x="6384798" y="640766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2753" tIns="49530" rIns="92456" bIns="49531" numCol="1" spcCol="1270" anchor="ctr" anchorCtr="0">
            <a:noAutofit/>
          </a:bodyPr>
          <a:lstStyle/>
          <a:p>
            <a:pPr marL="0" lvl="0" indent="0" algn="l" defTabSz="5556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Job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satisfaction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will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still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base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on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work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experience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work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modes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and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work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stress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rather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than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compensation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.</a:t>
            </a:r>
            <a:endParaRPr lang="en-US" sz="1250" b="1" kern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7105F25-2531-D364-37FD-6DD0469B5204}"/>
              </a:ext>
            </a:extLst>
          </p:cNvPr>
          <p:cNvSpPr/>
          <p:nvPr/>
        </p:nvSpPr>
        <p:spPr>
          <a:xfrm>
            <a:off x="4343609" y="2279296"/>
            <a:ext cx="640767" cy="640767"/>
          </a:xfrm>
          <a:prstGeom prst="ellipse">
            <a:avLst/>
          </a:prstGeom>
          <a:blipFill>
            <a:blip r:embed="rId5"/>
            <a:srcRect/>
            <a:stretch>
              <a:fillRect l="-6000" r="-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6F5C3CA-6ED3-E12F-0045-2E25409656D5}"/>
              </a:ext>
            </a:extLst>
          </p:cNvPr>
          <p:cNvSpPr/>
          <p:nvPr/>
        </p:nvSpPr>
        <p:spPr>
          <a:xfrm>
            <a:off x="4663992" y="3111338"/>
            <a:ext cx="6384798" cy="640768"/>
          </a:xfrm>
          <a:custGeom>
            <a:avLst/>
            <a:gdLst>
              <a:gd name="csX0" fmla="*/ 0 w 6384798"/>
              <a:gd name="csY0" fmla="*/ 0 h 640767"/>
              <a:gd name="csX1" fmla="*/ 6064415 w 6384798"/>
              <a:gd name="csY1" fmla="*/ 0 h 640767"/>
              <a:gd name="csX2" fmla="*/ 6384798 w 6384798"/>
              <a:gd name="csY2" fmla="*/ 320384 h 640767"/>
              <a:gd name="csX3" fmla="*/ 6064415 w 6384798"/>
              <a:gd name="csY3" fmla="*/ 640767 h 640767"/>
              <a:gd name="csX4" fmla="*/ 0 w 6384798"/>
              <a:gd name="csY4" fmla="*/ 640767 h 640767"/>
              <a:gd name="csX5" fmla="*/ 0 w 6384798"/>
              <a:gd name="csY5" fmla="*/ 0 h 640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384798" h="640767">
                <a:moveTo>
                  <a:pt x="6384798" y="640766"/>
                </a:moveTo>
                <a:lnTo>
                  <a:pt x="320383" y="640766"/>
                </a:lnTo>
                <a:lnTo>
                  <a:pt x="0" y="320383"/>
                </a:lnTo>
                <a:lnTo>
                  <a:pt x="320383" y="1"/>
                </a:lnTo>
                <a:lnTo>
                  <a:pt x="6384798" y="1"/>
                </a:lnTo>
                <a:lnTo>
                  <a:pt x="6384798" y="640766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2753" tIns="49530" rIns="92456" bIns="49531" numCol="1" spcCol="1270" anchor="ctr" anchorCtr="0">
            <a:noAutofit/>
          </a:bodyPr>
          <a:lstStyle/>
          <a:p>
            <a:pPr marL="0" lvl="0" indent="0" algn="l" defTabSz="5556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250" b="1" kern="1200">
                <a:solidFill>
                  <a:schemeClr val="bg1">
                    <a:lumMod val="75000"/>
                  </a:schemeClr>
                </a:solidFill>
              </a:rPr>
              <a:t>JavaScript, Python, SQL, TypeScript, PostgreSQL, Amazon Web Services, Node.js, React will be the leaders of the near future, not without threatening rivals. Go and Rust are the new age within programming languages</a:t>
            </a:r>
            <a:endParaRPr lang="en-US" sz="1250" b="1" kern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E159454-5667-E8CC-D761-8F6A62B19CBD}"/>
              </a:ext>
            </a:extLst>
          </p:cNvPr>
          <p:cNvSpPr/>
          <p:nvPr/>
        </p:nvSpPr>
        <p:spPr>
          <a:xfrm>
            <a:off x="4343609" y="3111338"/>
            <a:ext cx="640767" cy="640767"/>
          </a:xfrm>
          <a:prstGeom prst="ellipse">
            <a:avLst/>
          </a:prstGeom>
          <a:blipFill>
            <a:blip r:embed="rId6"/>
            <a:srcRect/>
            <a:stretch>
              <a:fillRect l="-6000" r="-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3C530F0-29D4-24E8-D95D-DA158026D58B}"/>
              </a:ext>
            </a:extLst>
          </p:cNvPr>
          <p:cNvSpPr/>
          <p:nvPr/>
        </p:nvSpPr>
        <p:spPr>
          <a:xfrm>
            <a:off x="4663992" y="3943378"/>
            <a:ext cx="6384798" cy="640768"/>
          </a:xfrm>
          <a:custGeom>
            <a:avLst/>
            <a:gdLst>
              <a:gd name="csX0" fmla="*/ 0 w 6384798"/>
              <a:gd name="csY0" fmla="*/ 0 h 640767"/>
              <a:gd name="csX1" fmla="*/ 6064415 w 6384798"/>
              <a:gd name="csY1" fmla="*/ 0 h 640767"/>
              <a:gd name="csX2" fmla="*/ 6384798 w 6384798"/>
              <a:gd name="csY2" fmla="*/ 320384 h 640767"/>
              <a:gd name="csX3" fmla="*/ 6064415 w 6384798"/>
              <a:gd name="csY3" fmla="*/ 640767 h 640767"/>
              <a:gd name="csX4" fmla="*/ 0 w 6384798"/>
              <a:gd name="csY4" fmla="*/ 640767 h 640767"/>
              <a:gd name="csX5" fmla="*/ 0 w 6384798"/>
              <a:gd name="csY5" fmla="*/ 0 h 640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384798" h="640767">
                <a:moveTo>
                  <a:pt x="6384798" y="640766"/>
                </a:moveTo>
                <a:lnTo>
                  <a:pt x="320383" y="640766"/>
                </a:lnTo>
                <a:lnTo>
                  <a:pt x="0" y="320383"/>
                </a:lnTo>
                <a:lnTo>
                  <a:pt x="320383" y="1"/>
                </a:lnTo>
                <a:lnTo>
                  <a:pt x="6384798" y="1"/>
                </a:lnTo>
                <a:lnTo>
                  <a:pt x="6384798" y="640766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2753" tIns="49531" rIns="92456" bIns="49530" numCol="1" spcCol="1270" anchor="ctr" anchorCtr="0">
            <a:noAutofit/>
          </a:bodyPr>
          <a:lstStyle/>
          <a:p>
            <a:pPr marL="0" lvl="0" indent="0" algn="l" defTabSz="5556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MySQL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should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be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watched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carefully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in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the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next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years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as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the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popularity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decrease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might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turn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into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chronic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.</a:t>
            </a:r>
            <a:endParaRPr lang="en-US" sz="1250" b="1" kern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597A760-5640-63DB-644C-155747CB1CCB}"/>
              </a:ext>
            </a:extLst>
          </p:cNvPr>
          <p:cNvSpPr/>
          <p:nvPr/>
        </p:nvSpPr>
        <p:spPr>
          <a:xfrm>
            <a:off x="4343609" y="3943379"/>
            <a:ext cx="640767" cy="640767"/>
          </a:xfrm>
          <a:prstGeom prst="ellipse">
            <a:avLst/>
          </a:prstGeom>
          <a:blipFill>
            <a:blip r:embed="rId7"/>
            <a:srcRect/>
            <a:stretch>
              <a:fillRect l="-6000" r="-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72D8931-DD94-1C8F-9749-4BB2D4AF328E}"/>
              </a:ext>
            </a:extLst>
          </p:cNvPr>
          <p:cNvSpPr/>
          <p:nvPr/>
        </p:nvSpPr>
        <p:spPr>
          <a:xfrm>
            <a:off x="4663992" y="4775420"/>
            <a:ext cx="6384798" cy="640768"/>
          </a:xfrm>
          <a:custGeom>
            <a:avLst/>
            <a:gdLst>
              <a:gd name="csX0" fmla="*/ 0 w 6384798"/>
              <a:gd name="csY0" fmla="*/ 0 h 640767"/>
              <a:gd name="csX1" fmla="*/ 6064415 w 6384798"/>
              <a:gd name="csY1" fmla="*/ 0 h 640767"/>
              <a:gd name="csX2" fmla="*/ 6384798 w 6384798"/>
              <a:gd name="csY2" fmla="*/ 320384 h 640767"/>
              <a:gd name="csX3" fmla="*/ 6064415 w 6384798"/>
              <a:gd name="csY3" fmla="*/ 640767 h 640767"/>
              <a:gd name="csX4" fmla="*/ 0 w 6384798"/>
              <a:gd name="csY4" fmla="*/ 640767 h 640767"/>
              <a:gd name="csX5" fmla="*/ 0 w 6384798"/>
              <a:gd name="csY5" fmla="*/ 0 h 640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384798" h="640767">
                <a:moveTo>
                  <a:pt x="6384798" y="640766"/>
                </a:moveTo>
                <a:lnTo>
                  <a:pt x="320383" y="640766"/>
                </a:lnTo>
                <a:lnTo>
                  <a:pt x="0" y="320383"/>
                </a:lnTo>
                <a:lnTo>
                  <a:pt x="320383" y="1"/>
                </a:lnTo>
                <a:lnTo>
                  <a:pt x="6384798" y="1"/>
                </a:lnTo>
                <a:lnTo>
                  <a:pt x="6384798" y="640766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2753" tIns="49531" rIns="92456" bIns="49530" numCol="1" spcCol="1270" anchor="ctr" anchorCtr="0">
            <a:noAutofit/>
          </a:bodyPr>
          <a:lstStyle/>
          <a:p>
            <a:pPr marL="0" lvl="0" indent="0" algn="l" defTabSz="5556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250" b="1" kern="1200">
                <a:solidFill>
                  <a:schemeClr val="bg1">
                    <a:lumMod val="75000"/>
                  </a:schemeClr>
                </a:solidFill>
              </a:rPr>
              <a:t>HTML/CSS will continue to lose ground as simpler frameworks allow to build estethic and interactive web pages / apps.</a:t>
            </a:r>
            <a:endParaRPr lang="en-US" sz="1250" b="1" kern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AD68F77-8086-C3A6-6C3F-01C2EC9DFECD}"/>
              </a:ext>
            </a:extLst>
          </p:cNvPr>
          <p:cNvSpPr/>
          <p:nvPr/>
        </p:nvSpPr>
        <p:spPr>
          <a:xfrm>
            <a:off x="4343609" y="4775421"/>
            <a:ext cx="640767" cy="640767"/>
          </a:xfrm>
          <a:prstGeom prst="ellipse">
            <a:avLst/>
          </a:prstGeom>
          <a:blipFill>
            <a:blip r:embed="rId8"/>
            <a:srcRect/>
            <a:stretch>
              <a:fillRect l="-15000" r="-15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ED681B5-E25A-0285-982A-1BC8CF600B0A}"/>
              </a:ext>
            </a:extLst>
          </p:cNvPr>
          <p:cNvSpPr/>
          <p:nvPr/>
        </p:nvSpPr>
        <p:spPr>
          <a:xfrm>
            <a:off x="4663992" y="5607461"/>
            <a:ext cx="6384799" cy="640768"/>
          </a:xfrm>
          <a:custGeom>
            <a:avLst/>
            <a:gdLst>
              <a:gd name="csX0" fmla="*/ 0 w 6384798"/>
              <a:gd name="csY0" fmla="*/ 0 h 640767"/>
              <a:gd name="csX1" fmla="*/ 6064415 w 6384798"/>
              <a:gd name="csY1" fmla="*/ 0 h 640767"/>
              <a:gd name="csX2" fmla="*/ 6384798 w 6384798"/>
              <a:gd name="csY2" fmla="*/ 320384 h 640767"/>
              <a:gd name="csX3" fmla="*/ 6064415 w 6384798"/>
              <a:gd name="csY3" fmla="*/ 640767 h 640767"/>
              <a:gd name="csX4" fmla="*/ 0 w 6384798"/>
              <a:gd name="csY4" fmla="*/ 640767 h 640767"/>
              <a:gd name="csX5" fmla="*/ 0 w 6384798"/>
              <a:gd name="csY5" fmla="*/ 0 h 640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384798" h="640767">
                <a:moveTo>
                  <a:pt x="6384798" y="640766"/>
                </a:moveTo>
                <a:lnTo>
                  <a:pt x="320383" y="640766"/>
                </a:lnTo>
                <a:lnTo>
                  <a:pt x="0" y="320383"/>
                </a:lnTo>
                <a:lnTo>
                  <a:pt x="320383" y="1"/>
                </a:lnTo>
                <a:lnTo>
                  <a:pt x="6384798" y="1"/>
                </a:lnTo>
                <a:lnTo>
                  <a:pt x="6384798" y="640766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2753" tIns="49531" rIns="92457" bIns="49530" numCol="1" spcCol="1270" anchor="ctr" anchorCtr="0">
            <a:noAutofit/>
          </a:bodyPr>
          <a:lstStyle/>
          <a:p>
            <a:pPr marL="0" lvl="0" indent="0" algn="l" defTabSz="5556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250" b="1" kern="1200">
                <a:solidFill>
                  <a:schemeClr val="bg1">
                    <a:lumMod val="75000"/>
                  </a:schemeClr>
                </a:solidFill>
              </a:rPr>
              <a:t>University degree will still continue to bring up more job opportunities, but often with in-person work mode.</a:t>
            </a:r>
            <a:endParaRPr lang="en-US" sz="1250" b="1" kern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592F24C-77EC-8FEF-2145-942D6C7AB4D9}"/>
              </a:ext>
            </a:extLst>
          </p:cNvPr>
          <p:cNvSpPr/>
          <p:nvPr/>
        </p:nvSpPr>
        <p:spPr>
          <a:xfrm>
            <a:off x="4343609" y="5607462"/>
            <a:ext cx="640767" cy="640767"/>
          </a:xfrm>
          <a:prstGeom prst="ellipse">
            <a:avLst/>
          </a:prstGeom>
          <a:blipFill>
            <a:blip r:embed="rId9"/>
            <a:srcRect/>
            <a:stretch>
              <a:fillRect l="-10000" r="-10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5" grpId="0" animBg="1"/>
      <p:bldP spid="17" grpId="0" animBg="1"/>
      <p:bldP spid="19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APPENDIX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111581" y="-45982"/>
            <a:ext cx="1518180" cy="15181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F808A7-4AB0-CE5B-5E75-3F4E7BBF4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86" y="1434985"/>
            <a:ext cx="5295814" cy="45086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F4D412-7DA6-4F4C-B68D-ABF3F8FAF8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507" y="1562837"/>
            <a:ext cx="5371700" cy="45086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445547-4CD8-432E-8B58-E443FD17F8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1155</TotalTime>
  <Words>1595</Words>
  <Application>Microsoft Office PowerPoint</Application>
  <PresentationFormat>Widescreen</PresentationFormat>
  <Paragraphs>154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Helv</vt:lpstr>
      <vt:lpstr>IBM Plex Mono</vt:lpstr>
      <vt:lpstr>IBM Plex Mono Medium</vt:lpstr>
      <vt:lpstr>IBM Plex Sans</vt:lpstr>
      <vt:lpstr>IBM Plex Sans SemiBold</vt:lpstr>
      <vt:lpstr>SLIDE_TEMPLATE_skill_network</vt:lpstr>
      <vt:lpstr>IBM – Capstone: Today and Future of Coding</vt:lpstr>
      <vt:lpstr>PowerPoint Presentation</vt:lpstr>
      <vt:lpstr>EXECUTIVE SUMMARY</vt:lpstr>
      <vt:lpstr>INTRODUCTION</vt:lpstr>
      <vt:lpstr>METHODOLOGY</vt:lpstr>
      <vt:lpstr>Results</vt:lpstr>
      <vt:lpstr> JOB POSTINGS</vt:lpstr>
      <vt:lpstr>POPULAR LANGUAGES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1: Current Technology Usage</vt:lpstr>
      <vt:lpstr>DASHBOARD TAB 2: Future Technology Trends</vt:lpstr>
      <vt:lpstr>DASHBOARD TAB 3: Demographics</vt:lpstr>
      <vt:lpstr>Yearly Compensation – Job Satisfaction</vt:lpstr>
      <vt:lpstr>Yearly Compensation</vt:lpstr>
      <vt:lpstr>Job Satisfaction</vt:lpstr>
      <vt:lpstr>DISCUSSION</vt:lpstr>
      <vt:lpstr>OVERALL FINDINGS &amp; IMPLICATIONS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Ali Can</cp:lastModifiedBy>
  <cp:revision>51</cp:revision>
  <dcterms:created xsi:type="dcterms:W3CDTF">2024-10-30T05:40:03Z</dcterms:created>
  <dcterms:modified xsi:type="dcterms:W3CDTF">2026-08-07T21:43:02Z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